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B2E33"/>
                </a:solidFill>
                <a:latin typeface="Arial"/>
              </a:defRPr>
            </a:pPr>
            <a:r>
              <a:rPr sz="1100" b="0" i="0" u="none" strike="noStrike">
                <a:solidFill>
                  <a:srgbClr val="0B2E33"/>
                </a:solidFill>
                <a:latin typeface="Arial"/>
              </a:rPr>
              <a:t>EE-Anteil am Bruttoendenergieverbrauch in %</a:t>
            </a:r>
          </a:p>
        </c:rich>
      </c:tx>
      <c:layout/>
      <c:overlay val="0"/>
    </c:title>
    <c:autoTitleDeleted val="0"/>
    <c:plotArea>
      <c:layout/>
      <c:barChart>
        <c:barDir val="col"/>
        <c:grouping val="clustered"/>
        <c:varyColors val="0"/>
        <c:ser>
          <c:idx val="0"/>
          <c:order val="0"/>
          <c:tx>
            <c:strRef>
              <c:f>Sheet1!$B$1</c:f>
              <c:strCache>
                <c:ptCount val="1"/>
                <c:pt idx="0">
                  <c:v>EE-Anteil</c:v>
                </c:pt>
              </c:strCache>
            </c:strRef>
          </c:tx>
          <c:spPr>
            <a:solidFill>
              <a:srgbClr val="14595B"/>
            </a:solidFill>
            <a:effectLst/>
          </c:spPr>
          <c:invertIfNegative val="0"/>
          <c:dLbls>
            <c:numFmt formatCode="0.0" sourceLinked="0"/>
            <c:txPr>
              <a:bodyPr/>
              <a:lstStyle/>
              <a:p>
                <a:pPr>
                  <a:defRPr b="0" i="0" strike="noStrike" sz="1000" u="none">
                    <a:solidFill>
                      <a:srgbClr val="1F2A2C"/>
                    </a:solidFill>
                    <a:latin typeface="Arial"/>
                  </a:defRPr>
                </a:pPr>
              </a:p>
            </c:txPr>
            <c:showLegendKey val="0"/>
            <c:showVal val="1"/>
            <c:showCatName val="0"/>
            <c:showSerName val="0"/>
            <c:showPercent val="0"/>
            <c:showBubbleSize val="0"/>
            <c:showLeaderLines val="0"/>
          </c:dLbls>
          <c:cat>
            <c:multiLvlStrRef>
              <c:f>Sheet1!$A$2:$A$6</c:f>
              <c:multiLvlStrCache>
                <c:ptCount val="5"/>
                <c:lvl>
                  <c:pt idx="0">
                    <c:v>2024 Ist</c:v>
                  </c:pt>
                  <c:pt idx="1">
                    <c:v>2025 Ist</c:v>
                  </c:pt>
                  <c:pt idx="2">
                    <c:v>2025 NECP-Pfad</c:v>
                  </c:pt>
                  <c:pt idx="3">
                    <c:v>2030 NECP-Ziel</c:v>
                  </c:pt>
                  <c:pt idx="4">
                    <c:v>2030 EU-Ziel</c:v>
                  </c:pt>
                </c:lvl>
              </c:multiLvlStrCache>
            </c:multiLvlStrRef>
          </c:cat>
          <c:val>
            <c:numRef>
              <c:f>Sheet1!$B$2:$B$6</c:f>
              <c:numCache>
                <c:formatCode>General</c:formatCode>
                <c:ptCount val="5"/>
                <c:pt idx="0">
                  <c:v>22.5</c:v>
                </c:pt>
                <c:pt idx="1">
                  <c:v>23.8</c:v>
                </c:pt>
                <c:pt idx="2">
                  <c:v>27.9</c:v>
                </c:pt>
                <c:pt idx="3">
                  <c:v>41</c:v>
                </c:pt>
                <c:pt idx="4">
                  <c:v>42.5</c:v>
                </c:pt>
              </c:numCache>
            </c:numRef>
          </c:val>
        </c:ser>
        <c:dLbls>
          <c:numFmt formatCode="0.0" sourceLinked="0"/>
          <c:txPr>
            <a:bodyPr/>
            <a:lstStyle/>
            <a:p>
              <a:pPr>
                <a:defRPr b="0" i="0" strike="noStrike" sz="1000" u="none">
                  <a:solidFill>
                    <a:srgbClr val="1F2A2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A2C"/>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3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B6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Titelfolie. Rechtsstand 8. September 2026. Die Recherche stützt sich auf Bundesgesetzblatt, Bundestag/Bundesrat, BMWE/BMUKN, EU-Kommission (Vertragsverletzungspakete) sowie Fachpublikationen (Fachagentur Wind und Solar, EWI, dena, Kanzlei-Briefings). Nicht abschließend verifizierte Punkte sind auf den Folien ausdrücklich markiert.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RED III (Richtlinie (EU) 2023/2413) trat am 20.11.2023 in Kraft. Allgemeine Umsetzungsfrist 21.5.2025; Genehmigungsvorschriften bereits bis 1.7.2024; Beschleunigungsgebiete bis 21.2.2026. Die Zahlen sind der Richtlinie entnommen.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Kernaussage: Deutschland hat den Genehmigungsteil (Wind an Land, See, Netze) und den Verkehrsteil der RED III umgesetzt, jeweils verspätet. Offen sind die Industriequote (Art. 22a), Solar-Beschleunigungsgebiete und die Biomasse-Nachhaltigkeitsverordnungen (im Verfahren). Wärme/Gebäude sind über GEG/GModG und WPG nur mittelbar und teils umstritten abgedeckt.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AGEE-Stat: 23,8 % EE-Anteil am Bruttoendenergieverbrauch 2025; Strom 55,1 %; Verkehr 8,0 %. NECP-Zwischenziel 2025 lag bei 27,9 %.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Gesetz vom 12.8.2025 setzt die Genehmigungsvorschriften der RED III für Wind an Land um. Die Kommission hatte Deutschland im Juni 2025 eine mit Gründen versehene Stellungnahme wegen Nichtumsetzung der Genehmigungsvorschriften (Frist 1.7.2024) übermittelt.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Datum und Aktenzeichen des Kommissionsvorschlags zur erneuten RED-III-Änderung konnten im Rahmen der Recherche nicht abschließend verifiziert werden; Verhandlungsstand vor Verwendung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Bundestag hat den Regierungsentwurf am 23.4.2026 in der Ausschussfassung beschlossen und den Zielwert 2040 von 59 auf 65 % angehoben. Der Bundesrat hat am 8.5.2026 auf Anrufung des Vermittlungsausschusses verzichtet. Inkrafttreten am 7.6.2026 laut WTS.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gibt in Deutschland kein Umsetzungsinstrument für Art. 22a. Die Instrumentendiskussion (EWI Juli 2026, Hydrogen Europe Juni 2026) läuft; die Bundesregierung hat sich nicht festgelegt. Laut BloombergNEF hatten im Frühjahr 2026 nur 12 von 27 Mitgliedstaaten RFNBO-Quoten legislativ verankert.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genaue Kabinetts- und Bundesratstermin sowie die BGBl.-Fundstelle konnten nicht verifiziert werden. Nach EMA Energiewelt lag Anfang Mai 2026 nur der Entwurf vor; Inkrafttreten realistisch zwischen 1.7.2026 und 1.1.2027.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 prüfen: Ob die Kommission nach dem Mahnschreiben vom 24.7.2025 inzwischen eine mit Gründen versehene Stellungnahme zur Gesamtumsetzung an Deutschland gerichtet hat, ließ sich aus den öffentlich zugänglichen Paketen bis Juni 2026 nicht belegen.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33"/>
        </a:solidFill>
      </p:bgPr>
    </p:bg>
    <p:spTree>
      <p:nvGrpSpPr>
        <p:cNvPr id="1" name=""/>
        <p:cNvGrpSpPr/>
        <p:nvPr/>
      </p:nvGrpSpPr>
      <p:grpSpPr>
        <a:xfrm>
          <a:off x="0" y="0"/>
          <a:ext cx="0" cy="0"/>
          <a:chOff x="0" y="0"/>
          <a:chExt cx="0" cy="0"/>
        </a:xfrm>
      </p:grpSpPr>
      <p:sp>
        <p:nvSpPr>
          <p:cNvPr id="2" name="Text 0"/>
          <p:cNvSpPr txBox="1"/>
          <p:nvPr/>
        </p:nvSpPr>
        <p:spPr>
          <a:xfrm>
            <a:off x="731520" y="1371600"/>
            <a:ext cx="10515600" cy="365760"/>
          </a:xfrm>
          <a:prstGeom prst="rect">
            <a:avLst/>
          </a:prstGeom>
          <a:noFill/>
          <a:ln/>
        </p:spPr>
        <p:txBody>
          <a:bodyPr wrap="square" lIns="0" tIns="0" rIns="0" bIns="0" rtlCol="0" anchor="ctr"/>
          <a:lstStyle/>
          <a:p>
            <a:pPr indent="0" marL="0">
              <a:buNone/>
            </a:pPr>
            <a:r>
              <a:rPr lang="en-US" sz="1300" b="1" spc="300" kern="0" dirty="0">
                <a:solidFill>
                  <a:srgbClr val="BFD9D9"/>
                </a:solidFill>
                <a:latin typeface="Calibri" pitchFamily="34" charset="0"/>
                <a:ea typeface="Calibri" pitchFamily="34" charset="-122"/>
                <a:cs typeface="Calibri" pitchFamily="34" charset="-120"/>
              </a:rPr>
              <a:t>RED III IN DEUTSCHEM RECHT</a:t>
            </a:r>
            <a:endParaRPr lang="en-US" sz="1300" dirty="0"/>
          </a:p>
        </p:txBody>
      </p:sp>
      <p:sp>
        <p:nvSpPr>
          <p:cNvPr id="3" name="Text 1"/>
          <p:cNvSpPr txBox="1"/>
          <p:nvPr/>
        </p:nvSpPr>
        <p:spPr>
          <a:xfrm>
            <a:off x="731520" y="1828800"/>
            <a:ext cx="10515600" cy="146304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Umsetzung der Erneuerbaren-Ziele der Richtlinie (EU) 2023/2413</a:t>
            </a:r>
            <a:endParaRPr lang="en-US" sz="3800" dirty="0"/>
          </a:p>
        </p:txBody>
      </p:sp>
      <p:sp>
        <p:nvSpPr>
          <p:cNvPr id="4" name="Text 2"/>
          <p:cNvSpPr txBox="1"/>
          <p:nvPr/>
        </p:nvSpPr>
        <p:spPr>
          <a:xfrm>
            <a:off x="731520" y="3246120"/>
            <a:ext cx="10515600" cy="548640"/>
          </a:xfrm>
          <a:prstGeom prst="rect">
            <a:avLst/>
          </a:prstGeom>
          <a:noFill/>
          <a:ln/>
        </p:spPr>
        <p:txBody>
          <a:bodyPr wrap="square" lIns="0" tIns="0" rIns="0" bIns="0" rtlCol="0" anchor="ctr"/>
          <a:lstStyle/>
          <a:p>
            <a:pPr indent="0" marL="0">
              <a:buNone/>
            </a:pPr>
            <a:r>
              <a:rPr lang="en-US" sz="1800" dirty="0">
                <a:solidFill>
                  <a:srgbClr val="BFD9D9"/>
                </a:solidFill>
                <a:latin typeface="Calibri" pitchFamily="34" charset="0"/>
                <a:ea typeface="Calibri" pitchFamily="34" charset="-122"/>
                <a:cs typeface="Calibri" pitchFamily="34" charset="-120"/>
              </a:rPr>
              <a:t>Was umgesetzt ist, wo Verzug besteht und was bis wann voraussichtlich kommt</a:t>
            </a:r>
            <a:endParaRPr lang="en-US" sz="1800" dirty="0"/>
          </a:p>
        </p:txBody>
      </p:sp>
      <p:sp>
        <p:nvSpPr>
          <p:cNvPr id="5" name="Text 3"/>
          <p:cNvSpPr txBox="1"/>
          <p:nvPr/>
        </p:nvSpPr>
        <p:spPr>
          <a:xfrm>
            <a:off x="731520" y="3794760"/>
            <a:ext cx="1051560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Schwerpunkte: Wasserstoff · RFNBO · Biogas und Biomethan</a:t>
            </a:r>
            <a:endParaRPr lang="en-US" sz="1600" dirty="0"/>
          </a:p>
        </p:txBody>
      </p:sp>
      <p:sp>
        <p:nvSpPr>
          <p:cNvPr id="6" name="Shape 4"/>
          <p:cNvSpPr/>
          <p:nvPr/>
        </p:nvSpPr>
        <p:spPr>
          <a:xfrm>
            <a:off x="731520" y="4846320"/>
            <a:ext cx="2926080" cy="310896"/>
          </a:xfrm>
          <a:prstGeom prst="roundRect">
            <a:avLst>
              <a:gd name="adj" fmla="val 50000"/>
            </a:avLst>
          </a:prstGeom>
          <a:solidFill>
            <a:srgbClr val="14595B"/>
          </a:solidFill>
          <a:ln w="12700">
            <a:solidFill>
              <a:srgbClr val="14595B"/>
            </a:solidFill>
            <a:prstDash val="solid"/>
          </a:ln>
        </p:spPr>
      </p:sp>
      <p:sp>
        <p:nvSpPr>
          <p:cNvPr id="7" name="Text 5"/>
          <p:cNvSpPr txBox="1"/>
          <p:nvPr/>
        </p:nvSpPr>
        <p:spPr>
          <a:xfrm>
            <a:off x="731520" y="4846320"/>
            <a:ext cx="292608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Rechtsstand: 8. September 2026</a:t>
            </a:r>
            <a:endParaRPr lang="en-US" sz="1050" dirty="0"/>
          </a:p>
        </p:txBody>
      </p:sp>
      <p:sp>
        <p:nvSpPr>
          <p:cNvPr id="8" name="Text 6"/>
          <p:cNvSpPr txBox="1"/>
          <p:nvPr/>
        </p:nvSpPr>
        <p:spPr>
          <a:xfrm>
            <a:off x="731520" y="5760720"/>
            <a:ext cx="10515600" cy="365760"/>
          </a:xfrm>
          <a:prstGeom prst="rect">
            <a:avLst/>
          </a:prstGeom>
          <a:noFill/>
          <a:ln/>
        </p:spPr>
        <p:txBody>
          <a:bodyPr wrap="square" lIns="0" tIns="0" rIns="0" bIns="0" rtlCol="0" anchor="ctr"/>
          <a:lstStyle/>
          <a:p>
            <a:pPr indent="0" marL="0">
              <a:buNone/>
            </a:pPr>
            <a:r>
              <a:rPr lang="en-US" sz="1100" dirty="0">
                <a:solidFill>
                  <a:srgbClr val="8FB3B3"/>
                </a:solidFill>
                <a:latin typeface="Calibri" pitchFamily="34" charset="0"/>
                <a:ea typeface="Calibri" pitchFamily="34" charset="-122"/>
                <a:cs typeface="Calibri" pitchFamily="34" charset="-120"/>
              </a:rPr>
              <a:t>Fachpublikum Recht und Regulatorik · Quellenangaben je Folie im Fußbereich und in den Notizen · keine Rechtsberatung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2</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365760"/>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Agenda und Lesehilfe</a:t>
            </a:r>
            <a:endParaRPr lang="en-US" sz="2600" dirty="0"/>
          </a:p>
        </p:txBody>
      </p:sp>
      <p:sp>
        <p:nvSpPr>
          <p:cNvPr id="5" name="Text 3"/>
          <p:cNvSpPr txBox="1"/>
          <p:nvPr/>
        </p:nvSpPr>
        <p:spPr>
          <a:xfrm>
            <a:off x="457200" y="1280160"/>
            <a:ext cx="6949440" cy="43891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F2A2C"/>
                </a:solidFill>
                <a:latin typeface="Calibri" pitchFamily="34" charset="0"/>
                <a:ea typeface="Calibri" pitchFamily="34" charset="-122"/>
                <a:cs typeface="Calibri" pitchFamily="34" charset="-120"/>
              </a:rPr>
              <a:t>1  RED III auf einen Blick: Ziele, Fristen, Umsetzungsarchitektur in Deutschland</a:t>
            </a:r>
            <a:endParaRPr lang="en-US" sz="1400" dirty="0"/>
          </a:p>
          <a:p>
            <a:pPr marL="177800" indent="-177800">
              <a:spcAft>
                <a:spcPts val="600"/>
              </a:spcAft>
              <a:buSzPct val="100000"/>
              <a:buChar char="•"/>
            </a:pPr>
            <a:r>
              <a:rPr lang="en-US" sz="1400" dirty="0">
                <a:solidFill>
                  <a:srgbClr val="1F2A2C"/>
                </a:solidFill>
                <a:latin typeface="Calibri" pitchFamily="34" charset="0"/>
                <a:ea typeface="Calibri" pitchFamily="34" charset="-122"/>
                <a:cs typeface="Calibri" pitchFamily="34" charset="-120"/>
              </a:rPr>
              <a:t>2  Gesamtstatus: Ampel je Zielbereich und Zahlenstand 2025</a:t>
            </a:r>
            <a:endParaRPr lang="en-US" sz="1400" dirty="0"/>
          </a:p>
          <a:p>
            <a:pPr marL="177800" indent="-177800">
              <a:spcAft>
                <a:spcPts val="600"/>
              </a:spcAft>
              <a:buSzPct val="100000"/>
              <a:buChar char="•"/>
            </a:pPr>
            <a:r>
              <a:rPr lang="en-US" sz="1400" dirty="0">
                <a:solidFill>
                  <a:srgbClr val="1F2A2C"/>
                </a:solidFill>
                <a:latin typeface="Calibri" pitchFamily="34" charset="0"/>
                <a:ea typeface="Calibri" pitchFamily="34" charset="-122"/>
                <a:cs typeface="Calibri" pitchFamily="34" charset="-120"/>
              </a:rPr>
              <a:t>3  Genehmigung und Beschleunigungsgebiete (Wind an Land, Wind auf See, Netze, Solar)</a:t>
            </a:r>
            <a:endParaRPr lang="en-US" sz="1400" dirty="0"/>
          </a:p>
          <a:p>
            <a:pPr marL="177800" indent="-177800">
              <a:spcAft>
                <a:spcPts val="600"/>
              </a:spcAft>
              <a:buSzPct val="100000"/>
              <a:buChar char="•"/>
            </a:pPr>
            <a:r>
              <a:rPr lang="en-US" sz="1400" dirty="0">
                <a:solidFill>
                  <a:srgbClr val="1F2A2C"/>
                </a:solidFill>
                <a:latin typeface="Calibri" pitchFamily="34" charset="0"/>
                <a:ea typeface="Calibri" pitchFamily="34" charset="-122"/>
                <a:cs typeface="Calibri" pitchFamily="34" charset="-120"/>
              </a:rPr>
              <a:t>4  Verkehr: THG-Quote 2026, RFNBO-Mindestquote, Anrechnung</a:t>
            </a:r>
            <a:endParaRPr lang="en-US" sz="1400" dirty="0"/>
          </a:p>
          <a:p>
            <a:pPr marL="177800" indent="-177800">
              <a:spcAft>
                <a:spcPts val="600"/>
              </a:spcAft>
              <a:buSzPct val="100000"/>
              <a:buChar char="•"/>
            </a:pPr>
            <a:r>
              <a:rPr lang="en-US" sz="1400" dirty="0">
                <a:solidFill>
                  <a:srgbClr val="1F2A2C"/>
                </a:solidFill>
                <a:latin typeface="Calibri" pitchFamily="34" charset="0"/>
                <a:ea typeface="Calibri" pitchFamily="34" charset="-122"/>
                <a:cs typeface="Calibri" pitchFamily="34" charset="-120"/>
              </a:rPr>
              <a:t>5  Vertiefung Wasserstoff: WasserstoffBG, Industriequote Art. 22a, EU-RFNBO-Regelwerk</a:t>
            </a:r>
            <a:endParaRPr lang="en-US" sz="1400" dirty="0"/>
          </a:p>
          <a:p>
            <a:pPr marL="177800" indent="-177800">
              <a:spcAft>
                <a:spcPts val="600"/>
              </a:spcAft>
              <a:buSzPct val="100000"/>
              <a:buChar char="•"/>
            </a:pPr>
            <a:r>
              <a:rPr lang="en-US" sz="1400" dirty="0">
                <a:solidFill>
                  <a:srgbClr val="1F2A2C"/>
                </a:solidFill>
                <a:latin typeface="Calibri" pitchFamily="34" charset="0"/>
                <a:ea typeface="Calibri" pitchFamily="34" charset="-122"/>
                <a:cs typeface="Calibri" pitchFamily="34" charset="-120"/>
              </a:rPr>
              <a:t>6  Vertiefung Biogas und Biomethan: Art. 29 bis 31a, BioSt-NachV, Unionsdatenbank</a:t>
            </a:r>
            <a:endParaRPr lang="en-US" sz="1400" dirty="0"/>
          </a:p>
          <a:p>
            <a:pPr marL="177800" indent="-177800">
              <a:spcAft>
                <a:spcPts val="600"/>
              </a:spcAft>
              <a:buSzPct val="100000"/>
              <a:buChar char="•"/>
            </a:pPr>
            <a:r>
              <a:rPr lang="en-US" sz="1400" dirty="0">
                <a:solidFill>
                  <a:srgbClr val="1F2A2C"/>
                </a:solidFill>
                <a:latin typeface="Calibri" pitchFamily="34" charset="0"/>
                <a:ea typeface="Calibri" pitchFamily="34" charset="-122"/>
                <a:cs typeface="Calibri" pitchFamily="34" charset="-120"/>
              </a:rPr>
              <a:t>7  Wärme, Gebäude, Fernwärme</a:t>
            </a:r>
            <a:endParaRPr lang="en-US" sz="1400" dirty="0"/>
          </a:p>
          <a:p>
            <a:pPr marL="177800" indent="-177800">
              <a:spcAft>
                <a:spcPts val="600"/>
              </a:spcAft>
              <a:buSzPct val="100000"/>
              <a:buChar char="•"/>
            </a:pPr>
            <a:r>
              <a:rPr lang="en-US" sz="1400" dirty="0">
                <a:solidFill>
                  <a:srgbClr val="1F2A2C"/>
                </a:solidFill>
                <a:latin typeface="Calibri" pitchFamily="34" charset="0"/>
                <a:ea typeface="Calibri" pitchFamily="34" charset="-122"/>
                <a:cs typeface="Calibri" pitchFamily="34" charset="-120"/>
              </a:rPr>
              <a:t>8  Vertragsverletzungsverfahren, EU-Vergleich, Zeitplan bis 2030, Bewertung</a:t>
            </a:r>
            <a:endParaRPr lang="en-US" sz="1400" dirty="0"/>
          </a:p>
        </p:txBody>
      </p:sp>
      <p:sp>
        <p:nvSpPr>
          <p:cNvPr id="6" name="Shape 4"/>
          <p:cNvSpPr/>
          <p:nvPr/>
        </p:nvSpPr>
        <p:spPr>
          <a:xfrm>
            <a:off x="7863840" y="1280160"/>
            <a:ext cx="3840480" cy="3566160"/>
          </a:xfrm>
          <a:prstGeom prst="roundRect">
            <a:avLst>
              <a:gd name="adj" fmla="val 3077"/>
            </a:avLst>
          </a:prstGeom>
          <a:solidFill>
            <a:srgbClr val="E4EFEF"/>
          </a:solidFill>
          <a:ln w="12700">
            <a:solidFill>
              <a:srgbClr val="E4EFEF"/>
            </a:solidFill>
            <a:prstDash val="solid"/>
          </a:ln>
        </p:spPr>
      </p:sp>
      <p:sp>
        <p:nvSpPr>
          <p:cNvPr id="7" name="Text 5"/>
          <p:cNvSpPr txBox="1"/>
          <p:nvPr/>
        </p:nvSpPr>
        <p:spPr>
          <a:xfrm>
            <a:off x="8046720" y="1417320"/>
            <a:ext cx="3474720" cy="365760"/>
          </a:xfrm>
          <a:prstGeom prst="rect">
            <a:avLst/>
          </a:prstGeom>
          <a:noFill/>
          <a:ln/>
        </p:spPr>
        <p:txBody>
          <a:bodyPr wrap="square" lIns="0" tIns="0" rIns="0" bIns="0" rtlCol="0" anchor="ctr"/>
          <a:lstStyle/>
          <a:p>
            <a:pPr indent="0" marL="0">
              <a:buNone/>
            </a:pPr>
            <a:r>
              <a:rPr lang="en-US" sz="1500" b="1" dirty="0">
                <a:solidFill>
                  <a:srgbClr val="0B2E33"/>
                </a:solidFill>
                <a:latin typeface="Cambria" pitchFamily="34" charset="0"/>
                <a:ea typeface="Cambria" pitchFamily="34" charset="-122"/>
                <a:cs typeface="Cambria" pitchFamily="34" charset="-120"/>
              </a:rPr>
              <a:t>Statuslogik</a:t>
            </a:r>
            <a:endParaRPr lang="en-US" sz="1500" dirty="0"/>
          </a:p>
        </p:txBody>
      </p:sp>
      <p:sp>
        <p:nvSpPr>
          <p:cNvPr id="8" name="Shape 6"/>
          <p:cNvSpPr/>
          <p:nvPr/>
        </p:nvSpPr>
        <p:spPr>
          <a:xfrm>
            <a:off x="8046720" y="1920240"/>
            <a:ext cx="1371600" cy="310896"/>
          </a:xfrm>
          <a:prstGeom prst="roundRect">
            <a:avLst>
              <a:gd name="adj" fmla="val 50000"/>
            </a:avLst>
          </a:prstGeom>
          <a:solidFill>
            <a:srgbClr val="DFF0E6"/>
          </a:solidFill>
          <a:ln w="12700">
            <a:solidFill>
              <a:srgbClr val="DFF0E6"/>
            </a:solidFill>
            <a:prstDash val="solid"/>
          </a:ln>
        </p:spPr>
      </p:sp>
      <p:sp>
        <p:nvSpPr>
          <p:cNvPr id="9" name="Text 7"/>
          <p:cNvSpPr txBox="1"/>
          <p:nvPr/>
        </p:nvSpPr>
        <p:spPr>
          <a:xfrm>
            <a:off x="8046720" y="1920240"/>
            <a:ext cx="1371600" cy="310896"/>
          </a:xfrm>
          <a:prstGeom prst="rect">
            <a:avLst/>
          </a:prstGeom>
          <a:noFill/>
          <a:ln/>
        </p:spPr>
        <p:txBody>
          <a:bodyPr wrap="square" lIns="0" tIns="0" rIns="0" bIns="0" rtlCol="0" anchor="ctr"/>
          <a:lstStyle/>
          <a:p>
            <a:pPr algn="ctr" indent="0" marL="0">
              <a:buNone/>
            </a:pPr>
            <a:r>
              <a:rPr lang="en-US" sz="1000" b="1" dirty="0">
                <a:solidFill>
                  <a:srgbClr val="1E5F3A"/>
                </a:solidFill>
                <a:latin typeface="Calibri" pitchFamily="34" charset="0"/>
                <a:ea typeface="Calibri" pitchFamily="34" charset="-122"/>
                <a:cs typeface="Calibri" pitchFamily="34" charset="-120"/>
              </a:rPr>
              <a:t>umgesetzt</a:t>
            </a:r>
            <a:endParaRPr lang="en-US" sz="1000" dirty="0"/>
          </a:p>
        </p:txBody>
      </p:sp>
      <p:sp>
        <p:nvSpPr>
          <p:cNvPr id="10" name="Text 8"/>
          <p:cNvSpPr txBox="1"/>
          <p:nvPr/>
        </p:nvSpPr>
        <p:spPr>
          <a:xfrm>
            <a:off x="9509760" y="1874520"/>
            <a:ext cx="2103120" cy="457200"/>
          </a:xfrm>
          <a:prstGeom prst="rect">
            <a:avLst/>
          </a:prstGeom>
          <a:noFill/>
          <a:ln/>
        </p:spPr>
        <p:txBody>
          <a:bodyPr wrap="square" lIns="0" tIns="0" rIns="0" bIns="0" rtlCol="0" anchor="ctr"/>
          <a:lstStyle/>
          <a:p>
            <a:pPr indent="0" marL="0">
              <a:buNone/>
            </a:pPr>
            <a:r>
              <a:rPr lang="en-US" sz="1000" dirty="0">
                <a:solidFill>
                  <a:srgbClr val="1F2A2C"/>
                </a:solidFill>
                <a:latin typeface="Calibri" pitchFamily="34" charset="0"/>
                <a:ea typeface="Calibri" pitchFamily="34" charset="-122"/>
                <a:cs typeface="Calibri" pitchFamily="34" charset="-120"/>
              </a:rPr>
              <a:t>Nationales Recht in Kraft, Vorgabe abgedeckt</a:t>
            </a:r>
            <a:endParaRPr lang="en-US" sz="1000" dirty="0"/>
          </a:p>
        </p:txBody>
      </p:sp>
      <p:sp>
        <p:nvSpPr>
          <p:cNvPr id="11" name="Shape 9"/>
          <p:cNvSpPr/>
          <p:nvPr/>
        </p:nvSpPr>
        <p:spPr>
          <a:xfrm>
            <a:off x="8046720" y="2606040"/>
            <a:ext cx="1371600" cy="310896"/>
          </a:xfrm>
          <a:prstGeom prst="roundRect">
            <a:avLst>
              <a:gd name="adj" fmla="val 50000"/>
            </a:avLst>
          </a:prstGeom>
          <a:solidFill>
            <a:srgbClr val="FCEFD6"/>
          </a:solidFill>
          <a:ln w="12700">
            <a:solidFill>
              <a:srgbClr val="FCEFD6"/>
            </a:solidFill>
            <a:prstDash val="solid"/>
          </a:ln>
        </p:spPr>
      </p:sp>
      <p:sp>
        <p:nvSpPr>
          <p:cNvPr id="12" name="Text 10"/>
          <p:cNvSpPr txBox="1"/>
          <p:nvPr/>
        </p:nvSpPr>
        <p:spPr>
          <a:xfrm>
            <a:off x="8046720" y="2606040"/>
            <a:ext cx="1371600" cy="310896"/>
          </a:xfrm>
          <a:prstGeom prst="rect">
            <a:avLst/>
          </a:prstGeom>
          <a:noFill/>
          <a:ln/>
        </p:spPr>
        <p:txBody>
          <a:bodyPr wrap="square" lIns="0" tIns="0" rIns="0" bIns="0" rtlCol="0" anchor="ctr"/>
          <a:lstStyle/>
          <a:p>
            <a:pPr algn="ctr" indent="0" marL="0">
              <a:buNone/>
            </a:pPr>
            <a:r>
              <a:rPr lang="en-US" sz="1000" b="1" dirty="0">
                <a:solidFill>
                  <a:srgbClr val="8A5A0B"/>
                </a:solidFill>
                <a:latin typeface="Calibri" pitchFamily="34" charset="0"/>
                <a:ea typeface="Calibri" pitchFamily="34" charset="-122"/>
                <a:cs typeface="Calibri" pitchFamily="34" charset="-120"/>
              </a:rPr>
              <a:t>teilweise</a:t>
            </a:r>
            <a:endParaRPr lang="en-US" sz="1000" dirty="0"/>
          </a:p>
        </p:txBody>
      </p:sp>
      <p:sp>
        <p:nvSpPr>
          <p:cNvPr id="13" name="Text 11"/>
          <p:cNvSpPr txBox="1"/>
          <p:nvPr/>
        </p:nvSpPr>
        <p:spPr>
          <a:xfrm>
            <a:off x="9509760" y="2560320"/>
            <a:ext cx="2103120" cy="457200"/>
          </a:xfrm>
          <a:prstGeom prst="rect">
            <a:avLst/>
          </a:prstGeom>
          <a:noFill/>
          <a:ln/>
        </p:spPr>
        <p:txBody>
          <a:bodyPr wrap="square" lIns="0" tIns="0" rIns="0" bIns="0" rtlCol="0" anchor="ctr"/>
          <a:lstStyle/>
          <a:p>
            <a:pPr indent="0" marL="0">
              <a:buNone/>
            </a:pPr>
            <a:r>
              <a:rPr lang="en-US" sz="1000" dirty="0">
                <a:solidFill>
                  <a:srgbClr val="1F2A2C"/>
                </a:solidFill>
                <a:latin typeface="Calibri" pitchFamily="34" charset="0"/>
                <a:ea typeface="Calibri" pitchFamily="34" charset="-122"/>
                <a:cs typeface="Calibri" pitchFamily="34" charset="-120"/>
              </a:rPr>
              <a:t>In Kraft, aber Lücken oder EU-rechtlich strittig</a:t>
            </a:r>
            <a:endParaRPr lang="en-US" sz="1000" dirty="0"/>
          </a:p>
        </p:txBody>
      </p:sp>
      <p:sp>
        <p:nvSpPr>
          <p:cNvPr id="14" name="Shape 12"/>
          <p:cNvSpPr/>
          <p:nvPr/>
        </p:nvSpPr>
        <p:spPr>
          <a:xfrm>
            <a:off x="8046720" y="3291840"/>
            <a:ext cx="1371600" cy="310896"/>
          </a:xfrm>
          <a:prstGeom prst="roundRect">
            <a:avLst>
              <a:gd name="adj" fmla="val 50000"/>
            </a:avLst>
          </a:prstGeom>
          <a:solidFill>
            <a:srgbClr val="E3ECF7"/>
          </a:solidFill>
          <a:ln w="12700">
            <a:solidFill>
              <a:srgbClr val="E3ECF7"/>
            </a:solidFill>
            <a:prstDash val="solid"/>
          </a:ln>
        </p:spPr>
      </p:sp>
      <p:sp>
        <p:nvSpPr>
          <p:cNvPr id="15" name="Text 13"/>
          <p:cNvSpPr txBox="1"/>
          <p:nvPr/>
        </p:nvSpPr>
        <p:spPr>
          <a:xfrm>
            <a:off x="8046720" y="3291840"/>
            <a:ext cx="1371600" cy="310896"/>
          </a:xfrm>
          <a:prstGeom prst="rect">
            <a:avLst/>
          </a:prstGeom>
          <a:noFill/>
          <a:ln/>
        </p:spPr>
        <p:txBody>
          <a:bodyPr wrap="square" lIns="0" tIns="0" rIns="0" bIns="0" rtlCol="0" anchor="ctr"/>
          <a:lstStyle/>
          <a:p>
            <a:pPr algn="ctr" indent="0" marL="0">
              <a:buNone/>
            </a:pPr>
            <a:r>
              <a:rPr lang="en-US" sz="1000" b="1" dirty="0">
                <a:solidFill>
                  <a:srgbClr val="2C4C7A"/>
                </a:solidFill>
                <a:latin typeface="Calibri" pitchFamily="34" charset="0"/>
                <a:ea typeface="Calibri" pitchFamily="34" charset="-122"/>
                <a:cs typeface="Calibri" pitchFamily="34" charset="-120"/>
              </a:rPr>
              <a:t>in Verfahren</a:t>
            </a:r>
            <a:endParaRPr lang="en-US" sz="1000" dirty="0"/>
          </a:p>
        </p:txBody>
      </p:sp>
      <p:sp>
        <p:nvSpPr>
          <p:cNvPr id="16" name="Text 14"/>
          <p:cNvSpPr txBox="1"/>
          <p:nvPr/>
        </p:nvSpPr>
        <p:spPr>
          <a:xfrm>
            <a:off x="9509760" y="3246120"/>
            <a:ext cx="2103120" cy="457200"/>
          </a:xfrm>
          <a:prstGeom prst="rect">
            <a:avLst/>
          </a:prstGeom>
          <a:noFill/>
          <a:ln/>
        </p:spPr>
        <p:txBody>
          <a:bodyPr wrap="square" lIns="0" tIns="0" rIns="0" bIns="0" rtlCol="0" anchor="ctr"/>
          <a:lstStyle/>
          <a:p>
            <a:pPr indent="0" marL="0">
              <a:buNone/>
            </a:pPr>
            <a:r>
              <a:rPr lang="en-US" sz="1000" dirty="0">
                <a:solidFill>
                  <a:srgbClr val="1F2A2C"/>
                </a:solidFill>
                <a:latin typeface="Calibri" pitchFamily="34" charset="0"/>
                <a:ea typeface="Calibri" pitchFamily="34" charset="-122"/>
                <a:cs typeface="Calibri" pitchFamily="34" charset="-120"/>
              </a:rPr>
              <a:t>Kabinett/Bundesrat befasst, noch nicht in Kraft</a:t>
            </a:r>
            <a:endParaRPr lang="en-US" sz="1000" dirty="0"/>
          </a:p>
        </p:txBody>
      </p:sp>
      <p:sp>
        <p:nvSpPr>
          <p:cNvPr id="17" name="Shape 15"/>
          <p:cNvSpPr/>
          <p:nvPr/>
        </p:nvSpPr>
        <p:spPr>
          <a:xfrm>
            <a:off x="8046720" y="3977640"/>
            <a:ext cx="1371600" cy="310896"/>
          </a:xfrm>
          <a:prstGeom prst="roundRect">
            <a:avLst>
              <a:gd name="adj" fmla="val 50000"/>
            </a:avLst>
          </a:prstGeom>
          <a:solidFill>
            <a:srgbClr val="F8E0DD"/>
          </a:solidFill>
          <a:ln w="12700">
            <a:solidFill>
              <a:srgbClr val="F8E0DD"/>
            </a:solidFill>
            <a:prstDash val="solid"/>
          </a:ln>
        </p:spPr>
      </p:sp>
      <p:sp>
        <p:nvSpPr>
          <p:cNvPr id="18" name="Text 16"/>
          <p:cNvSpPr txBox="1"/>
          <p:nvPr/>
        </p:nvSpPr>
        <p:spPr>
          <a:xfrm>
            <a:off x="8046720" y="3977640"/>
            <a:ext cx="1371600" cy="310896"/>
          </a:xfrm>
          <a:prstGeom prst="rect">
            <a:avLst/>
          </a:prstGeom>
          <a:noFill/>
          <a:ln/>
        </p:spPr>
        <p:txBody>
          <a:bodyPr wrap="square" lIns="0" tIns="0" rIns="0" bIns="0" rtlCol="0" anchor="ctr"/>
          <a:lstStyle/>
          <a:p>
            <a:pPr algn="ctr" indent="0" marL="0">
              <a:buNone/>
            </a:pPr>
            <a:r>
              <a:rPr lang="en-US" sz="1000" b="1" dirty="0">
                <a:solidFill>
                  <a:srgbClr val="8E2B25"/>
                </a:solidFill>
                <a:latin typeface="Calibri" pitchFamily="34" charset="0"/>
                <a:ea typeface="Calibri" pitchFamily="34" charset="-122"/>
                <a:cs typeface="Calibri" pitchFamily="34" charset="-120"/>
              </a:rPr>
              <a:t>Verzug / offen</a:t>
            </a:r>
            <a:endParaRPr lang="en-US" sz="1000" dirty="0"/>
          </a:p>
        </p:txBody>
      </p:sp>
      <p:sp>
        <p:nvSpPr>
          <p:cNvPr id="19" name="Text 17"/>
          <p:cNvSpPr txBox="1"/>
          <p:nvPr/>
        </p:nvSpPr>
        <p:spPr>
          <a:xfrm>
            <a:off x="9509760" y="3931920"/>
            <a:ext cx="2103120" cy="457200"/>
          </a:xfrm>
          <a:prstGeom prst="rect">
            <a:avLst/>
          </a:prstGeom>
          <a:noFill/>
          <a:ln/>
        </p:spPr>
        <p:txBody>
          <a:bodyPr wrap="square" lIns="0" tIns="0" rIns="0" bIns="0" rtlCol="0" anchor="ctr"/>
          <a:lstStyle/>
          <a:p>
            <a:pPr indent="0" marL="0">
              <a:buNone/>
            </a:pPr>
            <a:r>
              <a:rPr lang="en-US" sz="1000" dirty="0">
                <a:solidFill>
                  <a:srgbClr val="1F2A2C"/>
                </a:solidFill>
                <a:latin typeface="Calibri" pitchFamily="34" charset="0"/>
                <a:ea typeface="Calibri" pitchFamily="34" charset="-122"/>
                <a:cs typeface="Calibri" pitchFamily="34" charset="-120"/>
              </a:rPr>
              <a:t>Frist verstrichen, kein Rechtsakt, kein Entwurf</a:t>
            </a:r>
            <a:endParaRPr lang="en-US" sz="1000" dirty="0"/>
          </a:p>
        </p:txBody>
      </p:sp>
      <p:sp>
        <p:nvSpPr>
          <p:cNvPr id="20" name="Text 18"/>
          <p:cNvSpPr txBox="1"/>
          <p:nvPr/>
        </p:nvSpPr>
        <p:spPr>
          <a:xfrm>
            <a:off x="8046720" y="4983480"/>
            <a:ext cx="3657600" cy="548640"/>
          </a:xfrm>
          <a:prstGeom prst="rect">
            <a:avLst/>
          </a:prstGeom>
          <a:noFill/>
          <a:ln/>
        </p:spPr>
        <p:txBody>
          <a:bodyPr wrap="square" lIns="0" tIns="0" rIns="0" bIns="0" rtlCol="0" anchor="ctr"/>
          <a:lstStyle/>
          <a:p>
            <a:pPr indent="0" marL="0">
              <a:buNone/>
            </a:pPr>
            <a:r>
              <a:rPr lang="en-US" sz="950" dirty="0">
                <a:solidFill>
                  <a:srgbClr val="5C6B6D"/>
                </a:solidFill>
                <a:latin typeface="Calibri" pitchFamily="34" charset="0"/>
                <a:ea typeface="Calibri" pitchFamily="34" charset="-122"/>
                <a:cs typeface="Calibri" pitchFamily="34" charset="-120"/>
              </a:rPr>
              <a:t>Fristen der RED III: 1.7.2024 (Genehmigungsvorschriften), 21.5.2025 (allgemeine Umsetzung), 21.2.2026 (Beschleunigungsgebiete).</a:t>
            </a:r>
            <a:endParaRPr lang="en-US" sz="950" dirty="0"/>
          </a:p>
        </p:txBody>
      </p:sp>
      <p:sp>
        <p:nvSpPr>
          <p:cNvPr id="21" name="Text 19"/>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Quelle: Richtlinie (EU) 2023/2413, Art. 5 (Umsetzungsfristen); Art. 15c Abs. 1 (Beschleunigungsgebiete).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3</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100" b="1" spc="200" kern="0" dirty="0">
                <a:solidFill>
                  <a:srgbClr val="14595B"/>
                </a:solidFill>
                <a:latin typeface="Calibri" pitchFamily="34" charset="0"/>
                <a:ea typeface="Calibri" pitchFamily="34" charset="-122"/>
                <a:cs typeface="Calibri" pitchFamily="34" charset="-120"/>
              </a:rPr>
              <a:t>GRUNDLAGEN</a:t>
            </a:r>
            <a:endParaRPr lang="en-US" sz="1100" dirty="0"/>
          </a:p>
        </p:txBody>
      </p:sp>
      <p:sp>
        <p:nvSpPr>
          <p:cNvPr id="5" name="Text 3"/>
          <p:cNvSpPr txBox="1"/>
          <p:nvPr/>
        </p:nvSpPr>
        <p:spPr>
          <a:xfrm>
            <a:off x="457200" y="530352"/>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RED III auf einen Blick: Ziele und Fristen</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1737360"/>
                <a:gridCol w="6035040"/>
                <a:gridCol w="1554480"/>
                <a:gridCol w="19202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Zielbereich</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Vorgabe RED III</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Norm</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Charakter</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r>
              <a:tr h="0">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EU-Gesamtziel 2030</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42,5 % EE am Bruttoendenergieverbrauch, Anstreben 45 %; nationale Beiträge nach Formel Anhang II (Deutschland: 41 % im NECP 2024)</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Art. 3 Abs. 1</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verbindlich EU-weit, national indikativ</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Verkehr</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29 % EE-Anteil oder 14,5 % THG-Minderung bis 2030; Unterziel 5,5 % fortschrittliche Biokraftstoffe + RFNBO, davon mind. 1 % RFNBO</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Art. 25 bis 27</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verbindlich</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Industrie</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+1,6 %-Punkte EE p. a.; RFNBO-Anteil am Wasserstoffverbrauch 42 % (2030) und 60 % (2035); Reduktion auf 20 % unter Bedingungen</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Art. 22a</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indikativ / RFNBO verbindlich</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Wärme und Kälte</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+0,8 %-Punkte p. a. (2021 bis 2025), +1,1 %-Punkte p. a. (2026 bis 2030); Fernwärme +2,2 %-Punkte p. a.; Drittzugang bei Netzen &gt; 25 MWth</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Art. 23, 24</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verbindlich (Sockel) / indikativ</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Gebäude</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Richtwert 49 % EE-Anteil 2030; Mindestanteile für Neubau und größere Renovierungen</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Art. 15a</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indikativ / Mindestanforderungen</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Genehmigung</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Beschleunigungsgebiete, Fristen (1 bzw. 2 Jahre), überragendes öffentliches Interesse, Infrastrukturgebiete für Netze und Speicher</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Art. 15b bis 16f</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verbindlich</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Nachhaltigkeit Biomasse</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Schwellen 7,5 MW (fest), 2 MW (gasförmig), 200 m³/h (Biomethan); THG-Minderung bis 80 %; Kaskadenprinzip; Unionsdatenbank für gasförmige Brennstoffe</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Art. 3 Abs. 3, 29 bis 31a</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verbindlich</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bl>
          </a:graphicData>
        </a:graphic>
      </p:graphicFrame>
      <p:sp>
        <p:nvSpPr>
          <p:cNvPr id="7" name="Shape 4"/>
          <p:cNvSpPr/>
          <p:nvPr/>
        </p:nvSpPr>
        <p:spPr>
          <a:xfrm>
            <a:off x="457200" y="5349240"/>
            <a:ext cx="2708910" cy="502920"/>
          </a:xfrm>
          <a:prstGeom prst="roundRect">
            <a:avLst>
              <a:gd name="adj" fmla="val 18182"/>
            </a:avLst>
          </a:prstGeom>
          <a:solidFill>
            <a:srgbClr val="14595B"/>
          </a:solidFill>
          <a:ln w="12700">
            <a:solidFill>
              <a:srgbClr val="14595B"/>
            </a:solidFill>
            <a:prstDash val="solid"/>
          </a:ln>
        </p:spPr>
      </p:sp>
      <p:sp>
        <p:nvSpPr>
          <p:cNvPr id="8" name="Text 5"/>
          <p:cNvSpPr txBox="1"/>
          <p:nvPr/>
        </p:nvSpPr>
        <p:spPr>
          <a:xfrm>
            <a:off x="530352" y="5349240"/>
            <a:ext cx="256260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20.11.2023 · Inkrafttreten RED III</a:t>
            </a:r>
            <a:endParaRPr lang="en-US" sz="950" dirty="0"/>
          </a:p>
        </p:txBody>
      </p:sp>
      <p:sp>
        <p:nvSpPr>
          <p:cNvPr id="9" name="Shape 6"/>
          <p:cNvSpPr/>
          <p:nvPr/>
        </p:nvSpPr>
        <p:spPr>
          <a:xfrm>
            <a:off x="3303270" y="5349240"/>
            <a:ext cx="2708910" cy="502920"/>
          </a:xfrm>
          <a:prstGeom prst="roundRect">
            <a:avLst>
              <a:gd name="adj" fmla="val 18182"/>
            </a:avLst>
          </a:prstGeom>
          <a:solidFill>
            <a:srgbClr val="14595B"/>
          </a:solidFill>
          <a:ln w="12700">
            <a:solidFill>
              <a:srgbClr val="14595B"/>
            </a:solidFill>
            <a:prstDash val="solid"/>
          </a:ln>
        </p:spPr>
      </p:sp>
      <p:sp>
        <p:nvSpPr>
          <p:cNvPr id="10" name="Text 7"/>
          <p:cNvSpPr txBox="1"/>
          <p:nvPr/>
        </p:nvSpPr>
        <p:spPr>
          <a:xfrm>
            <a:off x="3376422" y="5349240"/>
            <a:ext cx="256260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1.7.2024 · Frist Genehmigungsvorschriften</a:t>
            </a:r>
            <a:endParaRPr lang="en-US" sz="950" dirty="0"/>
          </a:p>
        </p:txBody>
      </p:sp>
      <p:sp>
        <p:nvSpPr>
          <p:cNvPr id="11" name="Shape 8"/>
          <p:cNvSpPr/>
          <p:nvPr/>
        </p:nvSpPr>
        <p:spPr>
          <a:xfrm>
            <a:off x="6149340" y="5349240"/>
            <a:ext cx="2708910" cy="502920"/>
          </a:xfrm>
          <a:prstGeom prst="roundRect">
            <a:avLst>
              <a:gd name="adj" fmla="val 18182"/>
            </a:avLst>
          </a:prstGeom>
          <a:solidFill>
            <a:srgbClr val="14595B"/>
          </a:solidFill>
          <a:ln w="12700">
            <a:solidFill>
              <a:srgbClr val="14595B"/>
            </a:solidFill>
            <a:prstDash val="solid"/>
          </a:ln>
        </p:spPr>
      </p:sp>
      <p:sp>
        <p:nvSpPr>
          <p:cNvPr id="12" name="Text 9"/>
          <p:cNvSpPr txBox="1"/>
          <p:nvPr/>
        </p:nvSpPr>
        <p:spPr>
          <a:xfrm>
            <a:off x="6222492" y="5349240"/>
            <a:ext cx="256260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21.5.2025 · allgemeine Umsetzungsfrist</a:t>
            </a:r>
            <a:endParaRPr lang="en-US" sz="950" dirty="0"/>
          </a:p>
        </p:txBody>
      </p:sp>
      <p:sp>
        <p:nvSpPr>
          <p:cNvPr id="13" name="Shape 10"/>
          <p:cNvSpPr/>
          <p:nvPr/>
        </p:nvSpPr>
        <p:spPr>
          <a:xfrm>
            <a:off x="8995410" y="5349240"/>
            <a:ext cx="2708910" cy="502920"/>
          </a:xfrm>
          <a:prstGeom prst="roundRect">
            <a:avLst>
              <a:gd name="adj" fmla="val 18182"/>
            </a:avLst>
          </a:prstGeom>
          <a:solidFill>
            <a:srgbClr val="14595B"/>
          </a:solidFill>
          <a:ln w="12700">
            <a:solidFill>
              <a:srgbClr val="14595B"/>
            </a:solidFill>
            <a:prstDash val="solid"/>
          </a:ln>
        </p:spPr>
      </p:sp>
      <p:sp>
        <p:nvSpPr>
          <p:cNvPr id="14" name="Text 11"/>
          <p:cNvSpPr txBox="1"/>
          <p:nvPr/>
        </p:nvSpPr>
        <p:spPr>
          <a:xfrm>
            <a:off x="9068562" y="5349240"/>
            <a:ext cx="256260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21.2.2026 · Frist Beschleunigungsgebiete</a:t>
            </a:r>
            <a:endParaRPr lang="en-US" sz="950" dirty="0"/>
          </a:p>
        </p:txBody>
      </p:sp>
      <p:sp>
        <p:nvSpPr>
          <p:cNvPr id="15" name="Text 12"/>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Quellen: Richtlinie (EU) 2023/2413 vom 18.10.2023, ABl. L 2023/2413; BMWE, NECP-Aktualisierung 2024 (Beitrag 41 %).</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4</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100" b="1" spc="200" kern="0" dirty="0">
                <a:solidFill>
                  <a:srgbClr val="14595B"/>
                </a:solidFill>
                <a:latin typeface="Calibri" pitchFamily="34" charset="0"/>
                <a:ea typeface="Calibri" pitchFamily="34" charset="-122"/>
                <a:cs typeface="Calibri" pitchFamily="34" charset="-120"/>
              </a:rPr>
              <a:t>GESAMTSTATUS</a:t>
            </a:r>
            <a:endParaRPr lang="en-US" sz="1100" dirty="0"/>
          </a:p>
        </p:txBody>
      </p:sp>
      <p:sp>
        <p:nvSpPr>
          <p:cNvPr id="5" name="Text 3"/>
          <p:cNvSpPr txBox="1"/>
          <p:nvPr/>
        </p:nvSpPr>
        <p:spPr>
          <a:xfrm>
            <a:off x="457200" y="530352"/>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Umsetzungsarchitektur: Welcher Rechtsakt setzt was um</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3108960"/>
                <a:gridCol w="4023360"/>
                <a:gridCol w="2468880"/>
                <a:gridCol w="1645920"/>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RED-III-Vorgabe</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Deutscher Rechtsakt</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Fundstelle / Datum</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Status 9/2026</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r>
              <a:tr h="0">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Art. 15c, 16 bis 16f: Beschleunigungsgebiete Wind an Land, Genehmigungsfristen, Entfall UVP/Artenschutzprüfung</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Gesetz zur Umsetzung von Vorgaben der RL (EU) 2023/2413 (BImSchG, WHG, BauGB, ROG, WindBG, WaStrG)</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BGBl. 2025 I Nr. 189, 15.8.2025; BT 10.7., BR 11.7.2025</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950" b="1" dirty="0">
                          <a:solidFill>
                            <a:srgbClr val="1E5F3A"/>
                          </a:solidFill>
                          <a:latin typeface="Calibri" pitchFamily="34" charset="0"/>
                          <a:ea typeface="Calibri" pitchFamily="34" charset="-122"/>
                          <a:cs typeface="Calibri" pitchFamily="34" charset="-120"/>
                        </a:rPr>
                        <a:t>umgesetzt (verspätet)</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DFF0E6"/>
                    </a:solidFill>
                  </a:tcPr>
                </a:tc>
              </a:tr>
              <a:tr h="0">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Art. 15c, 15e: Wind auf See, Infrastrukturgebiete Netze</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Gesetz zur Umsetzung der RED III in den Bereichen Windenergie auf See und Stromnetze (WindSeeG, EnWG, NABEG)</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BGBl. 2025 I Nr. 351, 22.12.2025; BT 4.12.2025</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950" b="1" dirty="0">
                          <a:solidFill>
                            <a:srgbClr val="1E5F3A"/>
                          </a:solidFill>
                          <a:latin typeface="Calibri" pitchFamily="34" charset="0"/>
                          <a:ea typeface="Calibri" pitchFamily="34" charset="-122"/>
                          <a:cs typeface="Calibri" pitchFamily="34" charset="-120"/>
                        </a:rPr>
                        <a:t>umgesetzt</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DFF0E6"/>
                    </a:solidFill>
                  </a:tcPr>
                </a:tc>
              </a:tr>
              <a:tr h="0">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Art. 15c: Beschleunigungsgebiete Solar</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Keine Ausweisungspflicht; nur fakultative Solarenergiegebiete (§ 249b BauGB)</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Frist 21.2.2026 verstrichen; kein Entwurf</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950" b="1" dirty="0">
                          <a:solidFill>
                            <a:srgbClr val="8E2B25"/>
                          </a:solidFill>
                          <a:latin typeface="Calibri" pitchFamily="34" charset="0"/>
                          <a:ea typeface="Calibri" pitchFamily="34" charset="-122"/>
                          <a:cs typeface="Calibri" pitchFamily="34" charset="-120"/>
                        </a:rPr>
                        <a:t>Verzug / offen</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F8E0DD"/>
                    </a:solidFill>
                  </a:tcPr>
                </a:tc>
              </a:tr>
              <a:tr h="0">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Art. 25 bis 27: Verkehr (THG-Minderung, RFNBO, Anrechnung)</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Zweites Gesetz zur Weiterentwicklung der THG-Quote (§§ 37a ff. BImSchG); 37. und 38. BImSchV</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BGBl. 2026 I Nr. 163; in Kraft 7.6.2026</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950" b="1" dirty="0">
                          <a:solidFill>
                            <a:srgbClr val="1E5F3A"/>
                          </a:solidFill>
                          <a:latin typeface="Calibri" pitchFamily="34" charset="0"/>
                          <a:ea typeface="Calibri" pitchFamily="34" charset="-122"/>
                          <a:cs typeface="Calibri" pitchFamily="34" charset="-120"/>
                        </a:rPr>
                        <a:t>umgesetzt (verspätet)</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DFF0E6"/>
                    </a:solidFill>
                  </a:tcPr>
                </a:tc>
              </a:tr>
              <a:tr h="0">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Art. 22a: RFNBO-Quote Industrie 42 % / 60 %</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Kein Umsetzungsinstrument, kein Referentenentwurf</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Frist 21.5.2025 verstrichen</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950" b="1" dirty="0">
                          <a:solidFill>
                            <a:srgbClr val="8E2B25"/>
                          </a:solidFill>
                          <a:latin typeface="Calibri" pitchFamily="34" charset="0"/>
                          <a:ea typeface="Calibri" pitchFamily="34" charset="-122"/>
                          <a:cs typeface="Calibri" pitchFamily="34" charset="-120"/>
                        </a:rPr>
                        <a:t>Verzug / offen</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F8E0DD"/>
                    </a:solidFill>
                  </a:tcPr>
                </a:tc>
              </a:tr>
              <a:tr h="0">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Art. 29 bis 31a: Nachhaltigkeit Biomasse, Biomethan, Unionsdatenbank</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Neufassung BioSt-NachV und Biokraft-NachV (Verordnung der Bundesregierung)</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Verordnungsverfahren 2026; Inkrafttreten voraussichtlich 2. Hj. 2026 / 1.1.2027</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950" b="1" dirty="0">
                          <a:solidFill>
                            <a:srgbClr val="2C4C7A"/>
                          </a:solidFill>
                          <a:latin typeface="Calibri" pitchFamily="34" charset="0"/>
                          <a:ea typeface="Calibri" pitchFamily="34" charset="-122"/>
                          <a:cs typeface="Calibri" pitchFamily="34" charset="-120"/>
                        </a:rPr>
                        <a:t>in Verfahren</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E3ECF7"/>
                    </a:solidFill>
                  </a:tcPr>
                </a:tc>
              </a:tr>
              <a:tr h="0">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Art. 15a, 23: Gebäude, Wärme und Kälte</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GEG, ab 2026 Gebäudemodernisierungsgesetz (GModG); Wärmeplanungsgesetz (WPG)</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GModG: BGBl. 28.7.2026; WPG seit 1.1.2024</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950" b="1" dirty="0">
                          <a:solidFill>
                            <a:srgbClr val="8A5A0B"/>
                          </a:solidFill>
                          <a:latin typeface="Calibri" pitchFamily="34" charset="0"/>
                          <a:ea typeface="Calibri" pitchFamily="34" charset="-122"/>
                          <a:cs typeface="Calibri" pitchFamily="34" charset="-120"/>
                        </a:rPr>
                        <a:t>teilweise</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FCEFD6"/>
                    </a:solidFill>
                  </a:tcPr>
                </a:tc>
              </a:tr>
              <a:tr h="0">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Art. 24: Fernwärme (Anteile, Drittzugang, Abwärme)</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WPG (Anteilsvorgaben für Wärmenetze); kein ausdrücklicher Drittzugang</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WPG 1.1.2024</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950" b="1" dirty="0">
                          <a:solidFill>
                            <a:srgbClr val="8A5A0B"/>
                          </a:solidFill>
                          <a:latin typeface="Calibri" pitchFamily="34" charset="0"/>
                          <a:ea typeface="Calibri" pitchFamily="34" charset="-122"/>
                          <a:cs typeface="Calibri" pitchFamily="34" charset="-120"/>
                        </a:rPr>
                        <a:t>teilweise</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FCEFD6"/>
                    </a:solidFill>
                  </a:tcPr>
                </a:tc>
              </a:tr>
              <a:tr h="0">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Flankierend: Genehmigung H2-Infrastruktur (Art. 16 ff.)</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Wasserstoffbeschleunigungsgesetz (WasserstoffBG)</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BGBl. 2026 I Nr. 84, 1.4.2026; in Kraft 2.4.2026</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950" b="1" dirty="0">
                          <a:solidFill>
                            <a:srgbClr val="1E5F3A"/>
                          </a:solidFill>
                          <a:latin typeface="Calibri" pitchFamily="34" charset="0"/>
                          <a:ea typeface="Calibri" pitchFamily="34" charset="-122"/>
                          <a:cs typeface="Calibri" pitchFamily="34" charset="-120"/>
                        </a:rPr>
                        <a:t>umgesetzt</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DFF0E6"/>
                    </a:solidFill>
                  </a:tcPr>
                </a:tc>
              </a:tr>
            </a:tbl>
          </a:graphicData>
        </a:graphic>
      </p:graphicFrame>
      <p:sp>
        <p:nvSpPr>
          <p:cNvPr id="7" name="Text 4"/>
          <p:cNvSpPr txBox="1"/>
          <p:nvPr/>
        </p:nvSpPr>
        <p:spPr>
          <a:xfrm>
            <a:off x="457200" y="4800600"/>
            <a:ext cx="11247120" cy="274320"/>
          </a:xfrm>
          <a:prstGeom prst="rect">
            <a:avLst/>
          </a:prstGeom>
          <a:noFill/>
          <a:ln/>
        </p:spPr>
        <p:txBody>
          <a:bodyPr wrap="square" lIns="0" tIns="0" rIns="0" bIns="0" rtlCol="0" anchor="ctr"/>
          <a:lstStyle/>
          <a:p>
            <a:pPr indent="0" marL="0">
              <a:buNone/>
            </a:pPr>
            <a:r>
              <a:rPr lang="en-US" sz="1100" b="1" dirty="0">
                <a:solidFill>
                  <a:srgbClr val="5C6B6D"/>
                </a:solidFill>
                <a:latin typeface="Calibri" pitchFamily="34" charset="0"/>
                <a:ea typeface="Calibri" pitchFamily="34" charset="-122"/>
                <a:cs typeface="Calibri" pitchFamily="34" charset="-120"/>
              </a:rPr>
              <a:t>Bilanz der neun Umsetzungsfelder</a:t>
            </a:r>
            <a:endParaRPr lang="en-US" sz="1100" dirty="0"/>
          </a:p>
        </p:txBody>
      </p:sp>
      <p:sp>
        <p:nvSpPr>
          <p:cNvPr id="8" name="Shape 5"/>
          <p:cNvSpPr/>
          <p:nvPr/>
        </p:nvSpPr>
        <p:spPr>
          <a:xfrm>
            <a:off x="457200" y="5120640"/>
            <a:ext cx="2708910" cy="502920"/>
          </a:xfrm>
          <a:prstGeom prst="roundRect">
            <a:avLst>
              <a:gd name="adj" fmla="val 18182"/>
            </a:avLst>
          </a:prstGeom>
          <a:solidFill>
            <a:srgbClr val="2E7D4F"/>
          </a:solidFill>
          <a:ln w="12700">
            <a:solidFill>
              <a:srgbClr val="2E7D4F"/>
            </a:solidFill>
            <a:prstDash val="solid"/>
          </a:ln>
        </p:spPr>
      </p:sp>
      <p:sp>
        <p:nvSpPr>
          <p:cNvPr id="9" name="Text 6"/>
          <p:cNvSpPr txBox="1"/>
          <p:nvPr/>
        </p:nvSpPr>
        <p:spPr>
          <a:xfrm>
            <a:off x="530352" y="5120640"/>
            <a:ext cx="256260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 umgesetzt (davon 2 verspätet)</a:t>
            </a:r>
            <a:endParaRPr lang="en-US" sz="950" dirty="0"/>
          </a:p>
        </p:txBody>
      </p:sp>
      <p:sp>
        <p:nvSpPr>
          <p:cNvPr id="10" name="Shape 7"/>
          <p:cNvSpPr/>
          <p:nvPr/>
        </p:nvSpPr>
        <p:spPr>
          <a:xfrm>
            <a:off x="3303270" y="5120640"/>
            <a:ext cx="2708910" cy="502920"/>
          </a:xfrm>
          <a:prstGeom prst="roundRect">
            <a:avLst>
              <a:gd name="adj" fmla="val 18182"/>
            </a:avLst>
          </a:prstGeom>
          <a:solidFill>
            <a:srgbClr val="D48A1C"/>
          </a:solidFill>
          <a:ln w="12700">
            <a:solidFill>
              <a:srgbClr val="D48A1C"/>
            </a:solidFill>
            <a:prstDash val="solid"/>
          </a:ln>
        </p:spPr>
      </p:sp>
      <p:sp>
        <p:nvSpPr>
          <p:cNvPr id="11" name="Text 8"/>
          <p:cNvSpPr txBox="1"/>
          <p:nvPr/>
        </p:nvSpPr>
        <p:spPr>
          <a:xfrm>
            <a:off x="3376422" y="5120640"/>
            <a:ext cx="256260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teilweise (Wärme, Gebäude, Fernwärme)</a:t>
            </a:r>
            <a:endParaRPr lang="en-US" sz="950" dirty="0"/>
          </a:p>
        </p:txBody>
      </p:sp>
      <p:sp>
        <p:nvSpPr>
          <p:cNvPr id="12" name="Shape 9"/>
          <p:cNvSpPr/>
          <p:nvPr/>
        </p:nvSpPr>
        <p:spPr>
          <a:xfrm>
            <a:off x="6149340" y="5120640"/>
            <a:ext cx="2708910" cy="502920"/>
          </a:xfrm>
          <a:prstGeom prst="roundRect">
            <a:avLst>
              <a:gd name="adj" fmla="val 18182"/>
            </a:avLst>
          </a:prstGeom>
          <a:solidFill>
            <a:srgbClr val="2C4C7A"/>
          </a:solidFill>
          <a:ln w="12700">
            <a:solidFill>
              <a:srgbClr val="2C4C7A"/>
            </a:solidFill>
            <a:prstDash val="solid"/>
          </a:ln>
        </p:spPr>
      </p:sp>
      <p:sp>
        <p:nvSpPr>
          <p:cNvPr id="13" name="Text 10"/>
          <p:cNvSpPr txBox="1"/>
          <p:nvPr/>
        </p:nvSpPr>
        <p:spPr>
          <a:xfrm>
            <a:off x="6222492" y="5120640"/>
            <a:ext cx="256260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in Verfahren (Biomasse-Verordnungen)</a:t>
            </a:r>
            <a:endParaRPr lang="en-US" sz="950" dirty="0"/>
          </a:p>
        </p:txBody>
      </p:sp>
      <p:sp>
        <p:nvSpPr>
          <p:cNvPr id="14" name="Shape 11"/>
          <p:cNvSpPr/>
          <p:nvPr/>
        </p:nvSpPr>
        <p:spPr>
          <a:xfrm>
            <a:off x="8995410" y="5120640"/>
            <a:ext cx="2708910" cy="502920"/>
          </a:xfrm>
          <a:prstGeom prst="roundRect">
            <a:avLst>
              <a:gd name="adj" fmla="val 18182"/>
            </a:avLst>
          </a:prstGeom>
          <a:solidFill>
            <a:srgbClr val="B23A33"/>
          </a:solidFill>
          <a:ln w="12700">
            <a:solidFill>
              <a:srgbClr val="B23A33"/>
            </a:solidFill>
            <a:prstDash val="solid"/>
          </a:ln>
        </p:spPr>
      </p:sp>
      <p:sp>
        <p:nvSpPr>
          <p:cNvPr id="15" name="Text 12"/>
          <p:cNvSpPr txBox="1"/>
          <p:nvPr/>
        </p:nvSpPr>
        <p:spPr>
          <a:xfrm>
            <a:off x="9068562" y="5120640"/>
            <a:ext cx="256260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in Verzug (Industriequote, Solar)</a:t>
            </a:r>
            <a:endParaRPr lang="en-US" sz="950" dirty="0"/>
          </a:p>
        </p:txBody>
      </p:sp>
      <p:sp>
        <p:nvSpPr>
          <p:cNvPr id="16" name="Text 13"/>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Quellen: BGBl. 2025 I Nr. 189 und Nr. 351; BGBl. 2026 I Nr. 84 und Nr. 163; BMWSB/BMUKN PM 11.7.2025; Bundestag Textarchiv 4.12.2025, 26.2.2026, 23.4.2026; BMUKN Verordnungsverfahren BioSt-NachV; GÖRG 17.7.2026 (GModG).</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5</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100" b="1" spc="200" kern="0" dirty="0">
                <a:solidFill>
                  <a:srgbClr val="14595B"/>
                </a:solidFill>
                <a:latin typeface="Calibri" pitchFamily="34" charset="0"/>
                <a:ea typeface="Calibri" pitchFamily="34" charset="-122"/>
                <a:cs typeface="Calibri" pitchFamily="34" charset="-120"/>
              </a:rPr>
              <a:t>GESAMTSTATUS</a:t>
            </a:r>
            <a:endParaRPr lang="en-US" sz="1100" dirty="0"/>
          </a:p>
        </p:txBody>
      </p:sp>
      <p:sp>
        <p:nvSpPr>
          <p:cNvPr id="5" name="Text 3"/>
          <p:cNvSpPr txBox="1"/>
          <p:nvPr/>
        </p:nvSpPr>
        <p:spPr>
          <a:xfrm>
            <a:off x="457200" y="530352"/>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Wo Deutschland steht: Anteile erneuerbarer Energien 2025</a:t>
            </a:r>
            <a:endParaRPr lang="en-US" sz="2600" dirty="0"/>
          </a:p>
        </p:txBody>
      </p:sp>
      <p:sp>
        <p:nvSpPr>
          <p:cNvPr id="6" name="Text 4"/>
          <p:cNvSpPr txBox="1"/>
          <p:nvPr/>
        </p:nvSpPr>
        <p:spPr>
          <a:xfrm>
            <a:off x="457200" y="1280160"/>
            <a:ext cx="2377440" cy="822960"/>
          </a:xfrm>
          <a:prstGeom prst="rect">
            <a:avLst/>
          </a:prstGeom>
          <a:noFill/>
          <a:ln/>
        </p:spPr>
        <p:txBody>
          <a:bodyPr wrap="square" lIns="0" tIns="0" rIns="0" bIns="0" rtlCol="0" anchor="b"/>
          <a:lstStyle/>
          <a:p>
            <a:pPr algn="l" indent="0" marL="0">
              <a:buNone/>
            </a:pPr>
            <a:r>
              <a:rPr lang="en-US" sz="4000" b="1" dirty="0">
                <a:solidFill>
                  <a:srgbClr val="14595B"/>
                </a:solidFill>
                <a:latin typeface="Cambria" pitchFamily="34" charset="0"/>
                <a:ea typeface="Cambria" pitchFamily="34" charset="-122"/>
                <a:cs typeface="Cambria" pitchFamily="34" charset="-120"/>
              </a:rPr>
              <a:t>23,8 %</a:t>
            </a:r>
            <a:endParaRPr lang="en-US" sz="4000" dirty="0"/>
          </a:p>
        </p:txBody>
      </p:sp>
      <p:sp>
        <p:nvSpPr>
          <p:cNvPr id="7" name="Text 5"/>
          <p:cNvSpPr txBox="1"/>
          <p:nvPr/>
        </p:nvSpPr>
        <p:spPr>
          <a:xfrm>
            <a:off x="457200" y="2121408"/>
            <a:ext cx="2377440" cy="548640"/>
          </a:xfrm>
          <a:prstGeom prst="rect">
            <a:avLst/>
          </a:prstGeom>
          <a:noFill/>
          <a:ln/>
        </p:spPr>
        <p:txBody>
          <a:bodyPr wrap="square" lIns="0" tIns="0" rIns="0" bIns="0" rtlCol="0" anchor="t"/>
          <a:lstStyle/>
          <a:p>
            <a:pPr indent="0" marL="0">
              <a:buNone/>
            </a:pPr>
            <a:r>
              <a:rPr lang="en-US" sz="1100" dirty="0">
                <a:solidFill>
                  <a:srgbClr val="5C6B6D"/>
                </a:solidFill>
                <a:latin typeface="Calibri" pitchFamily="34" charset="0"/>
                <a:ea typeface="Calibri" pitchFamily="34" charset="-122"/>
                <a:cs typeface="Calibri" pitchFamily="34" charset="-120"/>
              </a:rPr>
              <a:t>EE am Bruttoendenergieverbrauch 2025 (2024: 22,5 %)</a:t>
            </a:r>
            <a:endParaRPr lang="en-US" sz="1100" dirty="0"/>
          </a:p>
        </p:txBody>
      </p:sp>
      <p:sp>
        <p:nvSpPr>
          <p:cNvPr id="8" name="Text 6"/>
          <p:cNvSpPr txBox="1"/>
          <p:nvPr/>
        </p:nvSpPr>
        <p:spPr>
          <a:xfrm>
            <a:off x="3017520" y="1280160"/>
            <a:ext cx="2377440" cy="822960"/>
          </a:xfrm>
          <a:prstGeom prst="rect">
            <a:avLst/>
          </a:prstGeom>
          <a:noFill/>
          <a:ln/>
        </p:spPr>
        <p:txBody>
          <a:bodyPr wrap="square" lIns="0" tIns="0" rIns="0" bIns="0" rtlCol="0" anchor="b"/>
          <a:lstStyle/>
          <a:p>
            <a:pPr algn="l" indent="0" marL="0">
              <a:buNone/>
            </a:pPr>
            <a:r>
              <a:rPr lang="en-US" sz="4000" b="1" dirty="0">
                <a:solidFill>
                  <a:srgbClr val="B23A33"/>
                </a:solidFill>
                <a:latin typeface="Cambria" pitchFamily="34" charset="0"/>
                <a:ea typeface="Cambria" pitchFamily="34" charset="-122"/>
                <a:cs typeface="Cambria" pitchFamily="34" charset="-120"/>
              </a:rPr>
              <a:t>27,9 %</a:t>
            </a:r>
            <a:endParaRPr lang="en-US" sz="4000" dirty="0"/>
          </a:p>
        </p:txBody>
      </p:sp>
      <p:sp>
        <p:nvSpPr>
          <p:cNvPr id="9" name="Text 7"/>
          <p:cNvSpPr txBox="1"/>
          <p:nvPr/>
        </p:nvSpPr>
        <p:spPr>
          <a:xfrm>
            <a:off x="3017520" y="2121408"/>
            <a:ext cx="2377440" cy="548640"/>
          </a:xfrm>
          <a:prstGeom prst="rect">
            <a:avLst/>
          </a:prstGeom>
          <a:noFill/>
          <a:ln/>
        </p:spPr>
        <p:txBody>
          <a:bodyPr wrap="square" lIns="0" tIns="0" rIns="0" bIns="0" rtlCol="0" anchor="t"/>
          <a:lstStyle/>
          <a:p>
            <a:pPr indent="0" marL="0">
              <a:buNone/>
            </a:pPr>
            <a:r>
              <a:rPr lang="en-US" sz="1100" dirty="0">
                <a:solidFill>
                  <a:srgbClr val="5C6B6D"/>
                </a:solidFill>
                <a:latin typeface="Calibri" pitchFamily="34" charset="0"/>
                <a:ea typeface="Calibri" pitchFamily="34" charset="-122"/>
                <a:cs typeface="Calibri" pitchFamily="34" charset="-120"/>
              </a:rPr>
              <a:t>NECP-Zwischenziel 2025, verfehlt</a:t>
            </a:r>
            <a:endParaRPr lang="en-US" sz="1100" dirty="0"/>
          </a:p>
        </p:txBody>
      </p:sp>
      <p:sp>
        <p:nvSpPr>
          <p:cNvPr id="10" name="Text 8"/>
          <p:cNvSpPr txBox="1"/>
          <p:nvPr/>
        </p:nvSpPr>
        <p:spPr>
          <a:xfrm>
            <a:off x="5577840" y="1280160"/>
            <a:ext cx="2377440" cy="822960"/>
          </a:xfrm>
          <a:prstGeom prst="rect">
            <a:avLst/>
          </a:prstGeom>
          <a:noFill/>
          <a:ln/>
        </p:spPr>
        <p:txBody>
          <a:bodyPr wrap="square" lIns="0" tIns="0" rIns="0" bIns="0" rtlCol="0" anchor="b"/>
          <a:lstStyle/>
          <a:p>
            <a:pPr algn="l" indent="0" marL="0">
              <a:buNone/>
            </a:pPr>
            <a:r>
              <a:rPr lang="en-US" sz="4000" b="1" dirty="0">
                <a:solidFill>
                  <a:srgbClr val="14595B"/>
                </a:solidFill>
                <a:latin typeface="Cambria" pitchFamily="34" charset="0"/>
                <a:ea typeface="Cambria" pitchFamily="34" charset="-122"/>
                <a:cs typeface="Cambria" pitchFamily="34" charset="-120"/>
              </a:rPr>
              <a:t>41 %</a:t>
            </a:r>
            <a:endParaRPr lang="en-US" sz="4000" dirty="0"/>
          </a:p>
        </p:txBody>
      </p:sp>
      <p:sp>
        <p:nvSpPr>
          <p:cNvPr id="11" name="Text 9"/>
          <p:cNvSpPr txBox="1"/>
          <p:nvPr/>
        </p:nvSpPr>
        <p:spPr>
          <a:xfrm>
            <a:off x="5577840" y="2121408"/>
            <a:ext cx="2377440" cy="548640"/>
          </a:xfrm>
          <a:prstGeom prst="rect">
            <a:avLst/>
          </a:prstGeom>
          <a:noFill/>
          <a:ln/>
        </p:spPr>
        <p:txBody>
          <a:bodyPr wrap="square" lIns="0" tIns="0" rIns="0" bIns="0" rtlCol="0" anchor="t"/>
          <a:lstStyle/>
          <a:p>
            <a:pPr indent="0" marL="0">
              <a:buNone/>
            </a:pPr>
            <a:r>
              <a:rPr lang="en-US" sz="1100" dirty="0">
                <a:solidFill>
                  <a:srgbClr val="5C6B6D"/>
                </a:solidFill>
                <a:latin typeface="Calibri" pitchFamily="34" charset="0"/>
                <a:ea typeface="Calibri" pitchFamily="34" charset="-122"/>
                <a:cs typeface="Calibri" pitchFamily="34" charset="-120"/>
              </a:rPr>
              <a:t>Deutscher Beitrag 2030 laut NECP 2024</a:t>
            </a:r>
            <a:endParaRPr lang="en-US" sz="1100" dirty="0"/>
          </a:p>
        </p:txBody>
      </p:sp>
      <p:sp>
        <p:nvSpPr>
          <p:cNvPr id="12" name="Text 10"/>
          <p:cNvSpPr txBox="1"/>
          <p:nvPr/>
        </p:nvSpPr>
        <p:spPr>
          <a:xfrm>
            <a:off x="8138160" y="1280160"/>
            <a:ext cx="2377440" cy="822960"/>
          </a:xfrm>
          <a:prstGeom prst="rect">
            <a:avLst/>
          </a:prstGeom>
          <a:noFill/>
          <a:ln/>
        </p:spPr>
        <p:txBody>
          <a:bodyPr wrap="square" lIns="0" tIns="0" rIns="0" bIns="0" rtlCol="0" anchor="b"/>
          <a:lstStyle/>
          <a:p>
            <a:pPr algn="l" indent="0" marL="0">
              <a:buNone/>
            </a:pPr>
            <a:r>
              <a:rPr lang="en-US" sz="4000" b="1" dirty="0">
                <a:solidFill>
                  <a:srgbClr val="0B2E33"/>
                </a:solidFill>
                <a:latin typeface="Cambria" pitchFamily="34" charset="0"/>
                <a:ea typeface="Cambria" pitchFamily="34" charset="-122"/>
                <a:cs typeface="Cambria" pitchFamily="34" charset="-120"/>
              </a:rPr>
              <a:t>42,5 %</a:t>
            </a:r>
            <a:endParaRPr lang="en-US" sz="4000" dirty="0"/>
          </a:p>
        </p:txBody>
      </p:sp>
      <p:sp>
        <p:nvSpPr>
          <p:cNvPr id="13" name="Text 11"/>
          <p:cNvSpPr txBox="1"/>
          <p:nvPr/>
        </p:nvSpPr>
        <p:spPr>
          <a:xfrm>
            <a:off x="8138160" y="2121408"/>
            <a:ext cx="2377440" cy="548640"/>
          </a:xfrm>
          <a:prstGeom prst="rect">
            <a:avLst/>
          </a:prstGeom>
          <a:noFill/>
          <a:ln/>
        </p:spPr>
        <p:txBody>
          <a:bodyPr wrap="square" lIns="0" tIns="0" rIns="0" bIns="0" rtlCol="0" anchor="t"/>
          <a:lstStyle/>
          <a:p>
            <a:pPr indent="0" marL="0">
              <a:buNone/>
            </a:pPr>
            <a:r>
              <a:rPr lang="en-US" sz="1100" dirty="0">
                <a:solidFill>
                  <a:srgbClr val="5C6B6D"/>
                </a:solidFill>
                <a:latin typeface="Calibri" pitchFamily="34" charset="0"/>
                <a:ea typeface="Calibri" pitchFamily="34" charset="-122"/>
                <a:cs typeface="Calibri" pitchFamily="34" charset="-120"/>
              </a:rPr>
              <a:t>EU-Ziel 2030 (Art. 3 RED III)</a:t>
            </a:r>
            <a:endParaRPr lang="en-US" sz="1100" dirty="0"/>
          </a:p>
        </p:txBody>
      </p:sp>
      <p:graphicFrame>
        <p:nvGraphicFramePr>
          <p:cNvPr id="14" name="Chart 0" descr=""/>
          <p:cNvGraphicFramePr/>
          <p:nvPr/>
        </p:nvGraphicFramePr>
        <p:xfrm>
          <a:off x="457200" y="2926080"/>
          <a:ext cx="6583680" cy="301752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7406640" y="2926080"/>
            <a:ext cx="4297680" cy="3017520"/>
          </a:xfrm>
          <a:prstGeom prst="roundRect">
            <a:avLst>
              <a:gd name="adj" fmla="val 3636"/>
            </a:avLst>
          </a:prstGeom>
          <a:solidFill>
            <a:srgbClr val="E4EFEF"/>
          </a:solidFill>
          <a:ln w="12700">
            <a:solidFill>
              <a:srgbClr val="E4EFEF"/>
            </a:solidFill>
            <a:prstDash val="solid"/>
          </a:ln>
        </p:spPr>
      </p:sp>
      <p:sp>
        <p:nvSpPr>
          <p:cNvPr id="16" name="Text 13"/>
          <p:cNvSpPr txBox="1"/>
          <p:nvPr/>
        </p:nvSpPr>
        <p:spPr>
          <a:xfrm>
            <a:off x="7589520" y="3035808"/>
            <a:ext cx="393192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Sektoren 2025</a:t>
            </a:r>
            <a:endParaRPr lang="en-US" sz="1500" dirty="0"/>
          </a:p>
        </p:txBody>
      </p:sp>
      <p:sp>
        <p:nvSpPr>
          <p:cNvPr id="17" name="Text 14"/>
          <p:cNvSpPr txBox="1"/>
          <p:nvPr/>
        </p:nvSpPr>
        <p:spPr>
          <a:xfrm>
            <a:off x="7589520" y="3429000"/>
            <a:ext cx="3931920" cy="24231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Strom: 55,1 % EE am Bruttostromverbrauch (2024: 54,4 %)</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Verkehr: 8,0 % EE am Endenergieverbrauch (2024: 7,4 %)</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Wärme und Verkehr wuchsen 2025 stärker als der Stromsektor</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Lücke zum 41-%-Pfad bleibt groß: rund 17 Prozentpunkte in fünf Jahren</a:t>
            </a:r>
            <a:endParaRPr lang="en-US" sz="1100" dirty="0"/>
          </a:p>
        </p:txBody>
      </p:sp>
      <p:sp>
        <p:nvSpPr>
          <p:cNvPr id="18" name="Text 15"/>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Quellen: Umweltbundesamt / AGEE-Stat, „Erneuerbare Energien in Deutschland: Wachstum 2025 verhalten“ (2026); BMWE, Zeitreihen EE 1990 bis 2025; NECP Deutschland (Aktualisierung 2024).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6</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100" b="1" spc="200" kern="0" dirty="0">
                <a:solidFill>
                  <a:srgbClr val="14595B"/>
                </a:solidFill>
                <a:latin typeface="Calibri" pitchFamily="34" charset="0"/>
                <a:ea typeface="Calibri" pitchFamily="34" charset="-122"/>
                <a:cs typeface="Calibri" pitchFamily="34" charset="-120"/>
              </a:rPr>
              <a:t>GENEHMIGUNGSTEIL</a:t>
            </a:r>
            <a:endParaRPr lang="en-US" sz="1100" dirty="0"/>
          </a:p>
        </p:txBody>
      </p:sp>
      <p:sp>
        <p:nvSpPr>
          <p:cNvPr id="5" name="Text 3"/>
          <p:cNvSpPr txBox="1"/>
          <p:nvPr/>
        </p:nvSpPr>
        <p:spPr>
          <a:xfrm>
            <a:off x="457200" y="530352"/>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Genehmigung und Beschleunigungsgebiete Wind an Land: umgesetzt</a:t>
            </a:r>
            <a:endParaRPr lang="en-US" sz="2600" dirty="0"/>
          </a:p>
        </p:txBody>
      </p:sp>
      <p:sp>
        <p:nvSpPr>
          <p:cNvPr id="6" name="Text 4"/>
          <p:cNvSpPr txBox="1"/>
          <p:nvPr/>
        </p:nvSpPr>
        <p:spPr>
          <a:xfrm>
            <a:off x="457200" y="1280160"/>
            <a:ext cx="6949440" cy="457200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A2C"/>
                </a:solidFill>
                <a:latin typeface="Calibri" pitchFamily="34" charset="0"/>
                <a:ea typeface="Calibri" pitchFamily="34" charset="-122"/>
                <a:cs typeface="Calibri" pitchFamily="34" charset="-120"/>
              </a:rPr>
              <a:t>Windenergiegebiete nach WindBG werden zu Beschleunigungsgebieten, wenn der Plan eine Umweltprüfung mit Minderungsmaßnahmen enthält (§ 249c BauGB, § 28 ROG); Ausweisungspflicht der Planungsträger nur für Wind</a:t>
            </a:r>
            <a:endParaRPr lang="en-US" sz="1250" dirty="0"/>
          </a:p>
          <a:p>
            <a:pPr marL="177800" indent="-177800">
              <a:spcAft>
                <a:spcPts val="600"/>
              </a:spcAft>
              <a:buSzPct val="100000"/>
              <a:buChar char="•"/>
            </a:pPr>
            <a:r>
              <a:rPr lang="en-US" sz="1250" dirty="0">
                <a:solidFill>
                  <a:srgbClr val="1F2A2C"/>
                </a:solidFill>
                <a:latin typeface="Calibri" pitchFamily="34" charset="0"/>
                <a:ea typeface="Calibri" pitchFamily="34" charset="-122"/>
                <a:cs typeface="Calibri" pitchFamily="34" charset="-120"/>
              </a:rPr>
              <a:t>In Beschleunigungsgebieten entfallen UVP, FFH- und Artenschutzprüfung; stattdessen Screening der Behörde mit Fristen (Art. 16a RED III, § 10 BImSchG)</a:t>
            </a:r>
            <a:endParaRPr lang="en-US" sz="1250" dirty="0"/>
          </a:p>
          <a:p>
            <a:pPr marL="177800" indent="-177800">
              <a:spcAft>
                <a:spcPts val="600"/>
              </a:spcAft>
              <a:buSzPct val="100000"/>
              <a:buChar char="•"/>
            </a:pPr>
            <a:r>
              <a:rPr lang="en-US" sz="1250" dirty="0">
                <a:solidFill>
                  <a:srgbClr val="1F2A2C"/>
                </a:solidFill>
                <a:latin typeface="Calibri" pitchFamily="34" charset="0"/>
                <a:ea typeface="Calibri" pitchFamily="34" charset="-122"/>
                <a:cs typeface="Calibri" pitchFamily="34" charset="-120"/>
              </a:rPr>
              <a:t>Verbindliche Genehmigungsfristen auch außerhalb der Gebiete; Repowering und Speicher am selben Standort privilegiert; Änderungen im WHG und WaStrG</a:t>
            </a:r>
            <a:endParaRPr lang="en-US" sz="1250" dirty="0"/>
          </a:p>
          <a:p>
            <a:pPr marL="177800" indent="-177800">
              <a:spcAft>
                <a:spcPts val="600"/>
              </a:spcAft>
              <a:buSzPct val="100000"/>
              <a:buChar char="•"/>
            </a:pPr>
            <a:r>
              <a:rPr lang="en-US" sz="1250" dirty="0">
                <a:solidFill>
                  <a:srgbClr val="1F2A2C"/>
                </a:solidFill>
                <a:latin typeface="Calibri" pitchFamily="34" charset="0"/>
                <a:ea typeface="Calibri" pitchFamily="34" charset="-122"/>
                <a:cs typeface="Calibri" pitchFamily="34" charset="-120"/>
              </a:rPr>
              <a:t>Gesetzgeber versteht das Gesetz als 1:1-Umsetzung; Kritik der Branche: keine Übererfüllung, uneinheitliche Länderpraxis, Karten der Beschleunigungsgebiete erst im Aufbau (DStGB, NRW)</a:t>
            </a:r>
            <a:endParaRPr lang="en-US" sz="1250" dirty="0"/>
          </a:p>
          <a:p>
            <a:pPr marL="177800" indent="-177800">
              <a:spcAft>
                <a:spcPts val="600"/>
              </a:spcAft>
              <a:buSzPct val="100000"/>
              <a:buChar char="•"/>
            </a:pPr>
            <a:r>
              <a:rPr lang="en-US" sz="1250" dirty="0">
                <a:solidFill>
                  <a:srgbClr val="1F2A2C"/>
                </a:solidFill>
                <a:latin typeface="Calibri" pitchFamily="34" charset="0"/>
                <a:ea typeface="Calibri" pitchFamily="34" charset="-122"/>
                <a:cs typeface="Calibri" pitchFamily="34" charset="-120"/>
              </a:rPr>
              <a:t>Frist 21.2.2026 für Wind formal eingehalten; tatsächliche Ausweisung liegt bei Ländern, Regionen und Kommunen</a:t>
            </a:r>
            <a:endParaRPr lang="en-US" sz="1250" dirty="0"/>
          </a:p>
        </p:txBody>
      </p:sp>
      <p:sp>
        <p:nvSpPr>
          <p:cNvPr id="7" name="Shape 5"/>
          <p:cNvSpPr/>
          <p:nvPr/>
        </p:nvSpPr>
        <p:spPr>
          <a:xfrm>
            <a:off x="7680960" y="1280160"/>
            <a:ext cx="4023360" cy="2194560"/>
          </a:xfrm>
          <a:prstGeom prst="roundRect">
            <a:avLst>
              <a:gd name="adj" fmla="val 5000"/>
            </a:avLst>
          </a:prstGeom>
          <a:solidFill>
            <a:srgbClr val="E4EFEF"/>
          </a:solidFill>
          <a:ln w="12700">
            <a:solidFill>
              <a:srgbClr val="E4EFEF"/>
            </a:solidFill>
            <a:prstDash val="solid"/>
          </a:ln>
        </p:spPr>
      </p:sp>
      <p:sp>
        <p:nvSpPr>
          <p:cNvPr id="8" name="Text 6"/>
          <p:cNvSpPr txBox="1"/>
          <p:nvPr/>
        </p:nvSpPr>
        <p:spPr>
          <a:xfrm>
            <a:off x="7863840" y="1389888"/>
            <a:ext cx="365760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Steckbrief</a:t>
            </a:r>
            <a:endParaRPr lang="en-US" sz="1500" dirty="0"/>
          </a:p>
        </p:txBody>
      </p:sp>
      <p:sp>
        <p:nvSpPr>
          <p:cNvPr id="9" name="Text 7"/>
          <p:cNvSpPr txBox="1"/>
          <p:nvPr/>
        </p:nvSpPr>
        <p:spPr>
          <a:xfrm>
            <a:off x="7863840" y="1783080"/>
            <a:ext cx="3657600" cy="160020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Gesetz zur Umsetzung von Vorgaben der RL (EU) 2023/2413 für Zulassungs- und Planverfahren</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Bundestag 10.7.2025, Bundesrat 11.7.2025</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Ausfertigung 12.8.2025, BGBl. 2025 I Nr. 189 (15.8.2025)</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Inkrafttreten am Tag nach Verkündung</a:t>
            </a:r>
            <a:endParaRPr lang="en-US" sz="1050" dirty="0"/>
          </a:p>
        </p:txBody>
      </p:sp>
      <p:sp>
        <p:nvSpPr>
          <p:cNvPr id="10" name="Shape 8"/>
          <p:cNvSpPr/>
          <p:nvPr/>
        </p:nvSpPr>
        <p:spPr>
          <a:xfrm>
            <a:off x="7680960" y="3657600"/>
            <a:ext cx="4023360" cy="1188720"/>
          </a:xfrm>
          <a:prstGeom prst="roundRect">
            <a:avLst>
              <a:gd name="adj" fmla="val 9231"/>
            </a:avLst>
          </a:prstGeom>
          <a:solidFill>
            <a:srgbClr val="DFF0E6"/>
          </a:solidFill>
          <a:ln w="12700">
            <a:solidFill>
              <a:srgbClr val="DFF0E6"/>
            </a:solidFill>
            <a:prstDash val="solid"/>
          </a:ln>
        </p:spPr>
      </p:sp>
      <p:sp>
        <p:nvSpPr>
          <p:cNvPr id="11" name="Text 9"/>
          <p:cNvSpPr txBox="1"/>
          <p:nvPr/>
        </p:nvSpPr>
        <p:spPr>
          <a:xfrm>
            <a:off x="7863840" y="3767328"/>
            <a:ext cx="365760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Erledigt damit</a:t>
            </a:r>
            <a:endParaRPr lang="en-US" sz="1500" dirty="0"/>
          </a:p>
        </p:txBody>
      </p:sp>
      <p:sp>
        <p:nvSpPr>
          <p:cNvPr id="12" name="Text 10"/>
          <p:cNvSpPr txBox="1"/>
          <p:nvPr/>
        </p:nvSpPr>
        <p:spPr>
          <a:xfrm>
            <a:off x="7863840" y="4160520"/>
            <a:ext cx="3657600" cy="59436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Art. 15c (Wind), 16 bis 16f RED III; Notifizierung an Kommission</a:t>
            </a:r>
            <a:endParaRPr lang="en-US" sz="1050" dirty="0"/>
          </a:p>
        </p:txBody>
      </p:sp>
      <p:sp>
        <p:nvSpPr>
          <p:cNvPr id="13" name="Shape 11"/>
          <p:cNvSpPr/>
          <p:nvPr/>
        </p:nvSpPr>
        <p:spPr>
          <a:xfrm>
            <a:off x="457200" y="5257800"/>
            <a:ext cx="2139696" cy="502920"/>
          </a:xfrm>
          <a:prstGeom prst="roundRect">
            <a:avLst>
              <a:gd name="adj" fmla="val 18182"/>
            </a:avLst>
          </a:prstGeom>
          <a:solidFill>
            <a:srgbClr val="14595B"/>
          </a:solidFill>
          <a:ln w="12700">
            <a:solidFill>
              <a:srgbClr val="14595B"/>
            </a:solidFill>
            <a:prstDash val="solid"/>
          </a:ln>
        </p:spPr>
      </p:sp>
      <p:sp>
        <p:nvSpPr>
          <p:cNvPr id="14" name="Text 12"/>
          <p:cNvSpPr txBox="1"/>
          <p:nvPr/>
        </p:nvSpPr>
        <p:spPr>
          <a:xfrm>
            <a:off x="530352" y="525780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1.7.2024 · EU-Frist Genehmigung</a:t>
            </a:r>
            <a:endParaRPr lang="en-US" sz="950" dirty="0"/>
          </a:p>
        </p:txBody>
      </p:sp>
      <p:sp>
        <p:nvSpPr>
          <p:cNvPr id="15" name="Shape 13"/>
          <p:cNvSpPr/>
          <p:nvPr/>
        </p:nvSpPr>
        <p:spPr>
          <a:xfrm>
            <a:off x="2734056" y="5257800"/>
            <a:ext cx="2139696" cy="502920"/>
          </a:xfrm>
          <a:prstGeom prst="roundRect">
            <a:avLst>
              <a:gd name="adj" fmla="val 18182"/>
            </a:avLst>
          </a:prstGeom>
          <a:solidFill>
            <a:srgbClr val="14595B"/>
          </a:solidFill>
          <a:ln w="12700">
            <a:solidFill>
              <a:srgbClr val="14595B"/>
            </a:solidFill>
            <a:prstDash val="solid"/>
          </a:ln>
        </p:spPr>
      </p:sp>
      <p:sp>
        <p:nvSpPr>
          <p:cNvPr id="16" name="Text 14"/>
          <p:cNvSpPr txBox="1"/>
          <p:nvPr/>
        </p:nvSpPr>
        <p:spPr>
          <a:xfrm>
            <a:off x="2807208" y="525780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18.6.2025 · begründete Stellungnahme</a:t>
            </a:r>
            <a:endParaRPr lang="en-US" sz="950" dirty="0"/>
          </a:p>
        </p:txBody>
      </p:sp>
      <p:sp>
        <p:nvSpPr>
          <p:cNvPr id="17" name="Shape 15"/>
          <p:cNvSpPr/>
          <p:nvPr/>
        </p:nvSpPr>
        <p:spPr>
          <a:xfrm>
            <a:off x="5010912" y="5257800"/>
            <a:ext cx="2139696" cy="502920"/>
          </a:xfrm>
          <a:prstGeom prst="roundRect">
            <a:avLst>
              <a:gd name="adj" fmla="val 18182"/>
            </a:avLst>
          </a:prstGeom>
          <a:solidFill>
            <a:srgbClr val="14595B"/>
          </a:solidFill>
          <a:ln w="12700">
            <a:solidFill>
              <a:srgbClr val="14595B"/>
            </a:solidFill>
            <a:prstDash val="solid"/>
          </a:ln>
        </p:spPr>
      </p:sp>
      <p:sp>
        <p:nvSpPr>
          <p:cNvPr id="18" name="Text 16"/>
          <p:cNvSpPr txBox="1"/>
          <p:nvPr/>
        </p:nvSpPr>
        <p:spPr>
          <a:xfrm>
            <a:off x="5084064" y="525780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10./11.7.2025 · Bundestag / Bundesrat</a:t>
            </a:r>
            <a:endParaRPr lang="en-US" sz="950" dirty="0"/>
          </a:p>
        </p:txBody>
      </p:sp>
      <p:sp>
        <p:nvSpPr>
          <p:cNvPr id="19" name="Shape 17"/>
          <p:cNvSpPr/>
          <p:nvPr/>
        </p:nvSpPr>
        <p:spPr>
          <a:xfrm>
            <a:off x="7287768" y="5257800"/>
            <a:ext cx="2139696" cy="502920"/>
          </a:xfrm>
          <a:prstGeom prst="roundRect">
            <a:avLst>
              <a:gd name="adj" fmla="val 18182"/>
            </a:avLst>
          </a:prstGeom>
          <a:solidFill>
            <a:srgbClr val="14595B"/>
          </a:solidFill>
          <a:ln w="12700">
            <a:solidFill>
              <a:srgbClr val="14595B"/>
            </a:solidFill>
            <a:prstDash val="solid"/>
          </a:ln>
        </p:spPr>
      </p:sp>
      <p:sp>
        <p:nvSpPr>
          <p:cNvPr id="20" name="Text 18"/>
          <p:cNvSpPr txBox="1"/>
          <p:nvPr/>
        </p:nvSpPr>
        <p:spPr>
          <a:xfrm>
            <a:off x="7360920" y="525780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15.8.2025 · BGBl. 2025 I Nr. 189</a:t>
            </a:r>
            <a:endParaRPr lang="en-US" sz="950" dirty="0"/>
          </a:p>
        </p:txBody>
      </p:sp>
      <p:sp>
        <p:nvSpPr>
          <p:cNvPr id="21" name="Shape 19"/>
          <p:cNvSpPr/>
          <p:nvPr/>
        </p:nvSpPr>
        <p:spPr>
          <a:xfrm>
            <a:off x="9564624" y="5257800"/>
            <a:ext cx="2139696" cy="502920"/>
          </a:xfrm>
          <a:prstGeom prst="roundRect">
            <a:avLst>
              <a:gd name="adj" fmla="val 18182"/>
            </a:avLst>
          </a:prstGeom>
          <a:solidFill>
            <a:srgbClr val="14595B"/>
          </a:solidFill>
          <a:ln w="12700">
            <a:solidFill>
              <a:srgbClr val="14595B"/>
            </a:solidFill>
            <a:prstDash val="solid"/>
          </a:ln>
        </p:spPr>
      </p:sp>
      <p:sp>
        <p:nvSpPr>
          <p:cNvPr id="22" name="Text 20"/>
          <p:cNvSpPr txBox="1"/>
          <p:nvPr/>
        </p:nvSpPr>
        <p:spPr>
          <a:xfrm>
            <a:off x="9637776" y="525780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21.2.2026 · Frist Beschleunigungsgebiete</a:t>
            </a:r>
            <a:endParaRPr lang="en-US" sz="950" dirty="0"/>
          </a:p>
        </p:txBody>
      </p:sp>
      <p:sp>
        <p:nvSpPr>
          <p:cNvPr id="23" name="Text 21"/>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Quellen: BGBl. 2025 I Nr. 189; BMWSB PM 11.7.2025; Fachagentur Wind und Solar, Hintergrundpapier „Nationale Umsetzung der RED III“; Noerr, KPMG Law, CMS Briefings 2025; DStGB Übersichtskarte Beschleunigungsgebiete.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7</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100" b="1" spc="200" kern="0" dirty="0">
                <a:solidFill>
                  <a:srgbClr val="14595B"/>
                </a:solidFill>
                <a:latin typeface="Calibri" pitchFamily="34" charset="0"/>
                <a:ea typeface="Calibri" pitchFamily="34" charset="-122"/>
                <a:cs typeface="Calibri" pitchFamily="34" charset="-120"/>
              </a:rPr>
              <a:t>GENEHMIGUNGSTEIL</a:t>
            </a:r>
            <a:endParaRPr lang="en-US" sz="1100" dirty="0"/>
          </a:p>
        </p:txBody>
      </p:sp>
      <p:sp>
        <p:nvSpPr>
          <p:cNvPr id="5" name="Text 3"/>
          <p:cNvSpPr txBox="1"/>
          <p:nvPr/>
        </p:nvSpPr>
        <p:spPr>
          <a:xfrm>
            <a:off x="457200" y="530352"/>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Wind auf See und Stromnetze: umgesetzt</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47120" cy="914400"/>
        </p:xfrm>
        <a:graphic>
          <a:graphicData uri="http://schemas.openxmlformats.org/drawingml/2006/table">
            <a:tbl>
              <a:tblPr/>
              <a:tblGrid>
                <a:gridCol w="2560320"/>
                <a:gridCol w="6675120"/>
                <a:gridCol w="201168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Element</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Inhalt</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RED-III-Bezug</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r>
              <a:tr h="0">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Beschleunigungsflächen Wind auf See</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Ausweisung im Flächenentwicklungsplan; verschlanktes Zulassungsverfahren im WindSeeG; Entfall projektbezogener UVP bei Umweltprüfung auf Planebene</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Art. 15c, 16a</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Infrastrukturgebiete Netze</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Für Übertragungsnetze, Verteilnetze und Offshore-Anbindungsleitungen; vereinfachte Zulassung nach EnWG und NABEG</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Art. 15e</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Fristen und Verfahren</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Verbindliche Entscheidungsfristen; digitales Verfahren; Vorrang im Rahmen des überragenden öffentlichen Interesses</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Art. 16, 16d</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EU-Leitfaden</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Kommissionsmitteilung zu Netz- und Speichergebieten nach Art. 15e (ABl. C, 2026) als Auslegungshilfe</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Art. 15e</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bl>
          </a:graphicData>
        </a:graphic>
      </p:graphicFrame>
      <p:sp>
        <p:nvSpPr>
          <p:cNvPr id="7" name="Shape 4"/>
          <p:cNvSpPr/>
          <p:nvPr/>
        </p:nvSpPr>
        <p:spPr>
          <a:xfrm>
            <a:off x="457200" y="3657600"/>
            <a:ext cx="5486400" cy="2194560"/>
          </a:xfrm>
          <a:prstGeom prst="roundRect">
            <a:avLst>
              <a:gd name="adj" fmla="val 5000"/>
            </a:avLst>
          </a:prstGeom>
          <a:solidFill>
            <a:srgbClr val="E4EFEF"/>
          </a:solidFill>
          <a:ln w="12700">
            <a:solidFill>
              <a:srgbClr val="E4EFEF"/>
            </a:solidFill>
            <a:prstDash val="solid"/>
          </a:ln>
        </p:spPr>
      </p:sp>
      <p:sp>
        <p:nvSpPr>
          <p:cNvPr id="8" name="Text 5"/>
          <p:cNvSpPr txBox="1"/>
          <p:nvPr/>
        </p:nvSpPr>
        <p:spPr>
          <a:xfrm>
            <a:off x="640080" y="3767328"/>
            <a:ext cx="512064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Verfahren</a:t>
            </a:r>
            <a:endParaRPr lang="en-US" sz="1500" dirty="0"/>
          </a:p>
        </p:txBody>
      </p:sp>
      <p:sp>
        <p:nvSpPr>
          <p:cNvPr id="9" name="Text 6"/>
          <p:cNvSpPr txBox="1"/>
          <p:nvPr/>
        </p:nvSpPr>
        <p:spPr>
          <a:xfrm>
            <a:off x="640080" y="4160520"/>
            <a:ext cx="5120640" cy="16002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Referentenentwurf BMWE 27.6.2025</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Kabinett 6.8.2025</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Bundestag 4.12.2025 (Fassung des Wirtschaftsausschusses)</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Verkündung BGBl. 2025 I Nr. 351 am 22.12.2025</a:t>
            </a:r>
            <a:endParaRPr lang="en-US" sz="1100" dirty="0"/>
          </a:p>
        </p:txBody>
      </p:sp>
      <p:sp>
        <p:nvSpPr>
          <p:cNvPr id="10" name="Shape 7"/>
          <p:cNvSpPr/>
          <p:nvPr/>
        </p:nvSpPr>
        <p:spPr>
          <a:xfrm>
            <a:off x="6217920" y="3657600"/>
            <a:ext cx="5486400" cy="2194560"/>
          </a:xfrm>
          <a:prstGeom prst="roundRect">
            <a:avLst>
              <a:gd name="adj" fmla="val 5000"/>
            </a:avLst>
          </a:prstGeom>
          <a:solidFill>
            <a:srgbClr val="DFF0E6"/>
          </a:solidFill>
          <a:ln w="12700">
            <a:solidFill>
              <a:srgbClr val="DFF0E6"/>
            </a:solidFill>
            <a:prstDash val="solid"/>
          </a:ln>
        </p:spPr>
      </p:sp>
      <p:sp>
        <p:nvSpPr>
          <p:cNvPr id="11" name="Text 8"/>
          <p:cNvSpPr txBox="1"/>
          <p:nvPr/>
        </p:nvSpPr>
        <p:spPr>
          <a:xfrm>
            <a:off x="6400800" y="3767328"/>
            <a:ext cx="512064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Bewertung</a:t>
            </a:r>
            <a:endParaRPr lang="en-US" sz="1500" dirty="0"/>
          </a:p>
        </p:txBody>
      </p:sp>
      <p:sp>
        <p:nvSpPr>
          <p:cNvPr id="12" name="Text 9"/>
          <p:cNvSpPr txBox="1"/>
          <p:nvPr/>
        </p:nvSpPr>
        <p:spPr>
          <a:xfrm>
            <a:off x="6400800" y="4160520"/>
            <a:ext cx="5120640" cy="16002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Art. 15c (See) und 15e vollständig umgesetzt</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Wirkung hängt von der Ausweisung der Flächen im Flächenentwicklungsplan (BSH) und in der Netzplanung ab</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Beschleunigungsflächen greifen erst mit den nächsten Ausschreibungsrunden nach WindSeeG</a:t>
            </a:r>
            <a:endParaRPr lang="en-US" sz="1100" dirty="0"/>
          </a:p>
        </p:txBody>
      </p:sp>
      <p:sp>
        <p:nvSpPr>
          <p:cNvPr id="13" name="Text 10"/>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Quellen: BMWE, Gesetzesvorhaben „Umsetzung der EU-Erneuerbaren-Richtlinie Wind auf See und Stromnetze“; Bundestag Textarchiv KW 49/2025; BGBl. 2025 I Nr. 351; BOE DOUE-Z-2026-70003 (Leitfaden Art. 15e).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8</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100" b="1" spc="200" kern="0" dirty="0">
                <a:solidFill>
                  <a:srgbClr val="14595B"/>
                </a:solidFill>
                <a:latin typeface="Calibri" pitchFamily="34" charset="0"/>
                <a:ea typeface="Calibri" pitchFamily="34" charset="-122"/>
                <a:cs typeface="Calibri" pitchFamily="34" charset="-120"/>
              </a:rPr>
              <a:t>GENEHMIGUNGSTEIL</a:t>
            </a:r>
            <a:endParaRPr lang="en-US" sz="1100" dirty="0"/>
          </a:p>
        </p:txBody>
      </p:sp>
      <p:sp>
        <p:nvSpPr>
          <p:cNvPr id="5" name="Text 3"/>
          <p:cNvSpPr txBox="1"/>
          <p:nvPr/>
        </p:nvSpPr>
        <p:spPr>
          <a:xfrm>
            <a:off x="457200" y="530352"/>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Verzug im Genehmigungsteil: Solar und die nächste EU-Novelle</a:t>
            </a:r>
            <a:endParaRPr lang="en-US" sz="2600" dirty="0"/>
          </a:p>
        </p:txBody>
      </p:sp>
      <p:sp>
        <p:nvSpPr>
          <p:cNvPr id="6" name="Shape 4"/>
          <p:cNvSpPr/>
          <p:nvPr/>
        </p:nvSpPr>
        <p:spPr>
          <a:xfrm>
            <a:off x="457200" y="1280160"/>
            <a:ext cx="5486400" cy="3566160"/>
          </a:xfrm>
          <a:prstGeom prst="roundRect">
            <a:avLst>
              <a:gd name="adj" fmla="val 3077"/>
            </a:avLst>
          </a:prstGeom>
          <a:solidFill>
            <a:srgbClr val="F8E0DD"/>
          </a:solidFill>
          <a:ln w="12700">
            <a:solidFill>
              <a:srgbClr val="F8E0DD"/>
            </a:solidFill>
            <a:prstDash val="solid"/>
          </a:ln>
        </p:spPr>
      </p:sp>
      <p:sp>
        <p:nvSpPr>
          <p:cNvPr id="7" name="Text 5"/>
          <p:cNvSpPr txBox="1"/>
          <p:nvPr/>
        </p:nvSpPr>
        <p:spPr>
          <a:xfrm>
            <a:off x="640080" y="1389888"/>
            <a:ext cx="512064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Beschleunigungsgebiete Solar: nicht umgesetzt</a:t>
            </a:r>
            <a:endParaRPr lang="en-US" sz="1500" dirty="0"/>
          </a:p>
        </p:txBody>
      </p:sp>
      <p:sp>
        <p:nvSpPr>
          <p:cNvPr id="8" name="Text 6"/>
          <p:cNvSpPr txBox="1"/>
          <p:nvPr/>
        </p:nvSpPr>
        <p:spPr>
          <a:xfrm>
            <a:off x="640080" y="1783080"/>
            <a:ext cx="5120640" cy="2971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Art. 15c verlangt Beschleunigungsgebiete für „eine oder mehrere“ EE-Technologien in erheblichem Umfang; Deutschland hat nur Wind verpflichtend ausgestaltet</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 249b BauGB (Solarenergiegebiete) und § 249c BauGB ermöglichen Solar-Gebiete nur fakultativ und zweistufig; keine automatische Festsetzung wie bei Wind</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Frist 21.2.2026 verstrichen; Fachagentur Wind und Solar fordert im April 2026 Beschleunigungsgebiete und Genehmigungserleichterungen für Freiflächen-PV</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Stand 9/2026: kein Referentenentwurf; Länder (z. B. Salzburg in Österreich) zeigen, dass Ausweisung machbar ist</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Risiko: Teil des offenen Vertragsverletzungsverfahrens zur Gesamtumsetzung</a:t>
            </a:r>
            <a:endParaRPr lang="en-US" sz="1100" dirty="0"/>
          </a:p>
        </p:txBody>
      </p:sp>
      <p:sp>
        <p:nvSpPr>
          <p:cNvPr id="9" name="Shape 7"/>
          <p:cNvSpPr/>
          <p:nvPr/>
        </p:nvSpPr>
        <p:spPr>
          <a:xfrm>
            <a:off x="6217920" y="1280160"/>
            <a:ext cx="5486400" cy="3566160"/>
          </a:xfrm>
          <a:prstGeom prst="roundRect">
            <a:avLst>
              <a:gd name="adj" fmla="val 3077"/>
            </a:avLst>
          </a:prstGeom>
          <a:solidFill>
            <a:srgbClr val="E4EFEF"/>
          </a:solidFill>
          <a:ln w="12700">
            <a:solidFill>
              <a:srgbClr val="E4EFEF"/>
            </a:solidFill>
            <a:prstDash val="solid"/>
          </a:ln>
        </p:spPr>
      </p:sp>
      <p:sp>
        <p:nvSpPr>
          <p:cNvPr id="10" name="Text 8"/>
          <p:cNvSpPr txBox="1"/>
          <p:nvPr/>
        </p:nvSpPr>
        <p:spPr>
          <a:xfrm>
            <a:off x="6400800" y="1389888"/>
            <a:ext cx="512064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EU-Ebene bewegt sich weiter</a:t>
            </a:r>
            <a:endParaRPr lang="en-US" sz="1500" dirty="0"/>
          </a:p>
        </p:txBody>
      </p:sp>
      <p:sp>
        <p:nvSpPr>
          <p:cNvPr id="11" name="Text 9"/>
          <p:cNvSpPr txBox="1"/>
          <p:nvPr/>
        </p:nvSpPr>
        <p:spPr>
          <a:xfrm>
            <a:off x="6400800" y="1783080"/>
            <a:ext cx="5120640" cy="2971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Kommission hat eine erneute Änderung der RED III zur Genehmigungsbeschleunigung vorgeschlagen, flankiert von einer Verordnung zur Straffung von Umweltprüfungen</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Inhalte u. a.: keine großflächigen Beschleunigungsgebiete, in denen EE-Bau von vornherein ausgeschlossen ist; unabhängiger Vermittler für Projekte ab 10 MW; mehr Öffentlichkeitsbeteiligung</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AccelerateEU (Mai 2026): Kommission kündigt Monitoring, Leitlinien und bei Bedarf Vertragsverletzungsverfahren zur Genehmigungsumsetzung an</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RED-IV-Vorschlag (Post-2030-Rahmen) für Q3 2026 angekündigt; Verhandlungsstand in Rat und Parlament: laufend</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Folge: Deutschland muss den Genehmigungsteil voraussichtlich erneut anpassen (Zeithorizont 2027/2028)</a:t>
            </a:r>
            <a:endParaRPr lang="en-US" sz="1100" dirty="0"/>
          </a:p>
        </p:txBody>
      </p:sp>
      <p:sp>
        <p:nvSpPr>
          <p:cNvPr id="12" name="Shape 10"/>
          <p:cNvSpPr/>
          <p:nvPr/>
        </p:nvSpPr>
        <p:spPr>
          <a:xfrm>
            <a:off x="457200" y="5120640"/>
            <a:ext cx="2139696" cy="502920"/>
          </a:xfrm>
          <a:prstGeom prst="roundRect">
            <a:avLst>
              <a:gd name="adj" fmla="val 18182"/>
            </a:avLst>
          </a:prstGeom>
          <a:solidFill>
            <a:srgbClr val="B23A33"/>
          </a:solidFill>
          <a:ln w="12700">
            <a:solidFill>
              <a:srgbClr val="B23A33"/>
            </a:solidFill>
            <a:prstDash val="solid"/>
          </a:ln>
        </p:spPr>
      </p:sp>
      <p:sp>
        <p:nvSpPr>
          <p:cNvPr id="13" name="Text 11"/>
          <p:cNvSpPr txBox="1"/>
          <p:nvPr/>
        </p:nvSpPr>
        <p:spPr>
          <a:xfrm>
            <a:off x="530352" y="512064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21.2.2026 · Frist Solar-Gebiete verfehlt</a:t>
            </a:r>
            <a:endParaRPr lang="en-US" sz="950" dirty="0"/>
          </a:p>
        </p:txBody>
      </p:sp>
      <p:sp>
        <p:nvSpPr>
          <p:cNvPr id="14" name="Shape 12"/>
          <p:cNvSpPr/>
          <p:nvPr/>
        </p:nvSpPr>
        <p:spPr>
          <a:xfrm>
            <a:off x="2734056" y="5120640"/>
            <a:ext cx="2139696" cy="502920"/>
          </a:xfrm>
          <a:prstGeom prst="roundRect">
            <a:avLst>
              <a:gd name="adj" fmla="val 18182"/>
            </a:avLst>
          </a:prstGeom>
          <a:solidFill>
            <a:srgbClr val="B23A33"/>
          </a:solidFill>
          <a:ln w="12700">
            <a:solidFill>
              <a:srgbClr val="B23A33"/>
            </a:solidFill>
            <a:prstDash val="solid"/>
          </a:ln>
        </p:spPr>
      </p:sp>
      <p:sp>
        <p:nvSpPr>
          <p:cNvPr id="15" name="Text 13"/>
          <p:cNvSpPr txBox="1"/>
          <p:nvPr/>
        </p:nvSpPr>
        <p:spPr>
          <a:xfrm>
            <a:off x="2807208" y="512064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29.4.2026 · Forderung Fachagentur</a:t>
            </a:r>
            <a:endParaRPr lang="en-US" sz="950" dirty="0"/>
          </a:p>
        </p:txBody>
      </p:sp>
      <p:sp>
        <p:nvSpPr>
          <p:cNvPr id="16" name="Shape 14"/>
          <p:cNvSpPr/>
          <p:nvPr/>
        </p:nvSpPr>
        <p:spPr>
          <a:xfrm>
            <a:off x="5010912" y="5120640"/>
            <a:ext cx="2139696" cy="502920"/>
          </a:xfrm>
          <a:prstGeom prst="roundRect">
            <a:avLst>
              <a:gd name="adj" fmla="val 18182"/>
            </a:avLst>
          </a:prstGeom>
          <a:solidFill>
            <a:srgbClr val="B23A33"/>
          </a:solidFill>
          <a:ln w="12700">
            <a:solidFill>
              <a:srgbClr val="B23A33"/>
            </a:solidFill>
            <a:prstDash val="solid"/>
          </a:ln>
        </p:spPr>
      </p:sp>
      <p:sp>
        <p:nvSpPr>
          <p:cNvPr id="17" name="Text 15"/>
          <p:cNvSpPr txBox="1"/>
          <p:nvPr/>
        </p:nvSpPr>
        <p:spPr>
          <a:xfrm>
            <a:off x="5084064" y="512064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Mai 2026 · AccelerateEU</a:t>
            </a:r>
            <a:endParaRPr lang="en-US" sz="950" dirty="0"/>
          </a:p>
        </p:txBody>
      </p:sp>
      <p:sp>
        <p:nvSpPr>
          <p:cNvPr id="18" name="Shape 16"/>
          <p:cNvSpPr/>
          <p:nvPr/>
        </p:nvSpPr>
        <p:spPr>
          <a:xfrm>
            <a:off x="7287768" y="5120640"/>
            <a:ext cx="2139696" cy="502920"/>
          </a:xfrm>
          <a:prstGeom prst="roundRect">
            <a:avLst>
              <a:gd name="adj" fmla="val 18182"/>
            </a:avLst>
          </a:prstGeom>
          <a:solidFill>
            <a:srgbClr val="B23A33"/>
          </a:solidFill>
          <a:ln w="12700">
            <a:solidFill>
              <a:srgbClr val="B23A33"/>
            </a:solidFill>
            <a:prstDash val="solid"/>
          </a:ln>
        </p:spPr>
      </p:sp>
      <p:sp>
        <p:nvSpPr>
          <p:cNvPr id="19" name="Text 17"/>
          <p:cNvSpPr txBox="1"/>
          <p:nvPr/>
        </p:nvSpPr>
        <p:spPr>
          <a:xfrm>
            <a:off x="7360920" y="512064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Q3 2026 · RED-IV-Vorschlag</a:t>
            </a:r>
            <a:endParaRPr lang="en-US" sz="950" dirty="0"/>
          </a:p>
        </p:txBody>
      </p:sp>
      <p:sp>
        <p:nvSpPr>
          <p:cNvPr id="20" name="Shape 18"/>
          <p:cNvSpPr/>
          <p:nvPr/>
        </p:nvSpPr>
        <p:spPr>
          <a:xfrm>
            <a:off x="9564624" y="5120640"/>
            <a:ext cx="2139696" cy="502920"/>
          </a:xfrm>
          <a:prstGeom prst="roundRect">
            <a:avLst>
              <a:gd name="adj" fmla="val 18182"/>
            </a:avLst>
          </a:prstGeom>
          <a:solidFill>
            <a:srgbClr val="B23A33"/>
          </a:solidFill>
          <a:ln w="12700">
            <a:solidFill>
              <a:srgbClr val="B23A33"/>
            </a:solidFill>
            <a:prstDash val="solid"/>
          </a:ln>
        </p:spPr>
      </p:sp>
      <p:sp>
        <p:nvSpPr>
          <p:cNvPr id="21" name="Text 19"/>
          <p:cNvSpPr txBox="1"/>
          <p:nvPr/>
        </p:nvSpPr>
        <p:spPr>
          <a:xfrm>
            <a:off x="9637776" y="512064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2027/28 · erneute Anpassung DE</a:t>
            </a:r>
            <a:endParaRPr lang="en-US" sz="950" dirty="0"/>
          </a:p>
        </p:txBody>
      </p:sp>
      <p:sp>
        <p:nvSpPr>
          <p:cNvPr id="22" name="Text 20"/>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Quellen: Fachagentur Wind und Solar, Hintergrundpapier RED III und PM 29.4.2026; CBH, Solarserver 2024 (§§ 249b, 249c BauGB); Windmesse / Prometheus Recht zum Kommissionsvorschlag; IHK Nordschwarzwald zu AccelerateEU (2026); Capstone DC (RED IV).</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E33"/>
        </a:solidFill>
      </p:bgPr>
    </p:bg>
    <p:spTree>
      <p:nvGrpSpPr>
        <p:cNvPr id="1" name=""/>
        <p:cNvGrpSpPr/>
        <p:nvPr/>
      </p:nvGrpSpPr>
      <p:grpSpPr>
        <a:xfrm>
          <a:off x="0" y="0"/>
          <a:ext cx="0" cy="0"/>
          <a:chOff x="0" y="0"/>
          <a:chExt cx="0" cy="0"/>
        </a:xfrm>
      </p:grpSpPr>
      <p:sp>
        <p:nvSpPr>
          <p:cNvPr id="2" name="Text 0"/>
          <p:cNvSpPr txBox="1"/>
          <p:nvPr/>
        </p:nvSpPr>
        <p:spPr>
          <a:xfrm>
            <a:off x="731520" y="2377440"/>
            <a:ext cx="10515600" cy="10972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Verkehr: THG-Quote 2026 und RFNBO</a:t>
            </a:r>
            <a:endParaRPr lang="en-US" sz="4000" dirty="0"/>
          </a:p>
        </p:txBody>
      </p:sp>
      <p:sp>
        <p:nvSpPr>
          <p:cNvPr id="3" name="Text 1"/>
          <p:cNvSpPr txBox="1"/>
          <p:nvPr/>
        </p:nvSpPr>
        <p:spPr>
          <a:xfrm>
            <a:off x="731520" y="3474720"/>
            <a:ext cx="10515600" cy="731520"/>
          </a:xfrm>
          <a:prstGeom prst="rect">
            <a:avLst/>
          </a:prstGeom>
          <a:noFill/>
          <a:ln/>
        </p:spPr>
        <p:txBody>
          <a:bodyPr wrap="square" lIns="0" tIns="0" rIns="0" bIns="0" rtlCol="0" anchor="ctr"/>
          <a:lstStyle/>
          <a:p>
            <a:pPr indent="0" marL="0">
              <a:buNone/>
            </a:pPr>
            <a:r>
              <a:rPr lang="en-US" sz="1600" dirty="0">
                <a:solidFill>
                  <a:srgbClr val="BFD9D9"/>
                </a:solidFill>
                <a:latin typeface="Calibri" pitchFamily="34" charset="0"/>
                <a:ea typeface="Calibri" pitchFamily="34" charset="-122"/>
                <a:cs typeface="Calibri" pitchFamily="34" charset="-120"/>
              </a:rPr>
              <a:t>Art. 25 bis 27 RED III · §§ 37a ff. BImSchG · 37. und 38. BImSchV</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10</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100" b="1" spc="200" kern="0" dirty="0">
                <a:solidFill>
                  <a:srgbClr val="14595B"/>
                </a:solidFill>
                <a:latin typeface="Calibri" pitchFamily="34" charset="0"/>
                <a:ea typeface="Calibri" pitchFamily="34" charset="-122"/>
                <a:cs typeface="Calibri" pitchFamily="34" charset="-120"/>
              </a:rPr>
              <a:t>VERKEHR</a:t>
            </a:r>
            <a:endParaRPr lang="en-US" sz="1100" dirty="0"/>
          </a:p>
        </p:txBody>
      </p:sp>
      <p:sp>
        <p:nvSpPr>
          <p:cNvPr id="5" name="Text 3"/>
          <p:cNvSpPr txBox="1"/>
          <p:nvPr/>
        </p:nvSpPr>
        <p:spPr>
          <a:xfrm>
            <a:off x="457200" y="530352"/>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THG-Quote 2026: umgesetzt, aber ein Jahr zu spät</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2377440"/>
                <a:gridCol w="6217920"/>
                <a:gridCol w="265176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Parameter</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Regelung ab 7.6.2026</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RED-III-Bezug</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r>
              <a:tr h="0">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THG-Minderungsquote Straßenverkehr</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12 % (2026), Anstieg auf 17,5 % ab 2027, danach stufenweise auf 65 % im Jahr 2040 (Regierungsentwurf: 59 %); entspricht ca. 70 % EE im Verkehr 2040</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Art. 25 Abs. 1 (THG-Option 14,5 % bis 2030)</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RFNBO-Mindestquote</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1,5 % (2030), 3 % (2032), 10 % (2040) des Energiegehalts; Ausgleichsabgabe 120 €/GJ Fehlmenge (§ 37c Abs. 14 BImSchG)</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Art. 25 Abs. 1 lit. b (mind. 1 % RFNBO 2030)</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Pönale allgemeine Quote</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Fehlmengenabgabe 0,60 €/kg CO2-Äquivalent (§ 37c Abs. 2 Nr. 1 BImSchG)</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Art. 25, 27</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Doppelanrechnung</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Entfällt ab Verpflichtungsjahr 2026; wegen Vertrauensschutz volle Wirkung erst ab 2027</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Art. 27 Abs. 2 (Multiplikatoren)</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Kappung Anbaubiomasse</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Anstieg von 4,4 % auf 5,8 % bis 2032; Beibehaltung der Palmöl-Ausschlüsse</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Art. 26</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Ladestrom und Biogas</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Ladestrom aus Biogas ab 1.1.2028 anrechenbar; Anrechnung erneuerbarer Kraftstoffe nur bei Möglichkeit von Vor-Ort-Kontrollen</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Art. 27 Abs. 3, 30</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bl>
          </a:graphicData>
        </a:graphic>
      </p:graphicFrame>
      <p:sp>
        <p:nvSpPr>
          <p:cNvPr id="7" name="Shape 4"/>
          <p:cNvSpPr/>
          <p:nvPr/>
        </p:nvSpPr>
        <p:spPr>
          <a:xfrm>
            <a:off x="457200" y="4846320"/>
            <a:ext cx="11247120" cy="1097280"/>
          </a:xfrm>
          <a:prstGeom prst="roundRect">
            <a:avLst>
              <a:gd name="adj" fmla="val 10000"/>
            </a:avLst>
          </a:prstGeom>
          <a:solidFill>
            <a:srgbClr val="E4EFEF"/>
          </a:solidFill>
          <a:ln w="12700">
            <a:solidFill>
              <a:srgbClr val="E4EFEF"/>
            </a:solidFill>
            <a:prstDash val="solid"/>
          </a:ln>
        </p:spPr>
      </p:sp>
      <p:sp>
        <p:nvSpPr>
          <p:cNvPr id="8" name="Text 5"/>
          <p:cNvSpPr txBox="1"/>
          <p:nvPr/>
        </p:nvSpPr>
        <p:spPr>
          <a:xfrm>
            <a:off x="640080" y="4956048"/>
            <a:ext cx="1088136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Verfahren</a:t>
            </a:r>
            <a:endParaRPr lang="en-US" sz="1500" dirty="0"/>
          </a:p>
        </p:txBody>
      </p:sp>
      <p:sp>
        <p:nvSpPr>
          <p:cNvPr id="9" name="Text 6"/>
          <p:cNvSpPr txBox="1"/>
          <p:nvPr/>
        </p:nvSpPr>
        <p:spPr>
          <a:xfrm>
            <a:off x="640080" y="5349240"/>
            <a:ext cx="10881360" cy="502920"/>
          </a:xfrm>
          <a:prstGeom prst="rect">
            <a:avLst/>
          </a:prstGeom>
          <a:noFill/>
          <a:ln/>
        </p:spPr>
        <p:txBody>
          <a:bodyPr wrap="square" lIns="0" tIns="0" rIns="0" bIns="0" rtlCol="0" anchor="t"/>
          <a:lstStyle/>
          <a:p>
            <a:pPr indent="0" marL="0">
              <a:spcAft>
                <a:spcPts val="400"/>
              </a:spcAft>
              <a:buNone/>
            </a:pPr>
            <a:r>
              <a:rPr lang="en-US" sz="1050" dirty="0">
                <a:solidFill>
                  <a:srgbClr val="1F2A2C"/>
                </a:solidFill>
                <a:latin typeface="Calibri" pitchFamily="34" charset="0"/>
                <a:ea typeface="Calibri" pitchFamily="34" charset="-122"/>
                <a:cs typeface="Calibri" pitchFamily="34" charset="-120"/>
              </a:rPr>
              <a:t>Referentenentwurf BMUKN 19.6.2025 · Kabinett 10.12.2025 · Bundestag 2./3. Lesung 23.4.2026 (nach Absetzung im März) · Bundesrat 8.5.2026 · BGBl. 2026 I Nr. 163 · in Kraft 7.6.2026 · Frist RED III: 21.5.2025</a:t>
            </a:r>
            <a:endParaRPr lang="en-US" sz="1050" dirty="0"/>
          </a:p>
        </p:txBody>
      </p:sp>
      <p:sp>
        <p:nvSpPr>
          <p:cNvPr id="10" name="Text 7"/>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Quellen: BGBl. 2026 I Nr. 163; Bundestag Textarchiv KW 12 und KW 17/2026; BT-Drs. 21/4083, 21/5530; Bundesregierung.de „Treibhausgasminderungsquote“; WTS 12.6.2026; Gleiss Lutz; IHK Regensburg; Hauptstadtbüro Bioenergie (Bundesrat 8.5.2026).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11</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100" b="1" spc="200" kern="0" dirty="0">
                <a:solidFill>
                  <a:srgbClr val="14595B"/>
                </a:solidFill>
                <a:latin typeface="Calibri" pitchFamily="34" charset="0"/>
                <a:ea typeface="Calibri" pitchFamily="34" charset="-122"/>
                <a:cs typeface="Calibri" pitchFamily="34" charset="-120"/>
              </a:rPr>
              <a:t>VERKEHR</a:t>
            </a:r>
            <a:endParaRPr lang="en-US" sz="1100" dirty="0"/>
          </a:p>
        </p:txBody>
      </p:sp>
      <p:sp>
        <p:nvSpPr>
          <p:cNvPr id="5" name="Text 3"/>
          <p:cNvSpPr txBox="1"/>
          <p:nvPr/>
        </p:nvSpPr>
        <p:spPr>
          <a:xfrm>
            <a:off x="457200" y="530352"/>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RFNBO im Verkehr: Anrechnung, Nachweis, Vollzug</a:t>
            </a:r>
            <a:endParaRPr lang="en-US" sz="2600" dirty="0"/>
          </a:p>
        </p:txBody>
      </p:sp>
      <p:sp>
        <p:nvSpPr>
          <p:cNvPr id="6" name="Shape 4"/>
          <p:cNvSpPr/>
          <p:nvPr/>
        </p:nvSpPr>
        <p:spPr>
          <a:xfrm>
            <a:off x="457200" y="1280160"/>
            <a:ext cx="3657600" cy="3566160"/>
          </a:xfrm>
          <a:prstGeom prst="roundRect">
            <a:avLst>
              <a:gd name="adj" fmla="val 3077"/>
            </a:avLst>
          </a:prstGeom>
          <a:solidFill>
            <a:srgbClr val="E4EFEF"/>
          </a:solidFill>
          <a:ln w="12700">
            <a:solidFill>
              <a:srgbClr val="E4EFEF"/>
            </a:solidFill>
            <a:prstDash val="solid"/>
          </a:ln>
        </p:spPr>
      </p:sp>
      <p:sp>
        <p:nvSpPr>
          <p:cNvPr id="7" name="Text 5"/>
          <p:cNvSpPr txBox="1"/>
          <p:nvPr/>
        </p:nvSpPr>
        <p:spPr>
          <a:xfrm>
            <a:off x="640080" y="1389888"/>
            <a:ext cx="329184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37. BImSchV (Neufassung 2024)</a:t>
            </a:r>
            <a:endParaRPr lang="en-US" sz="1500" dirty="0"/>
          </a:p>
        </p:txBody>
      </p:sp>
      <p:sp>
        <p:nvSpPr>
          <p:cNvPr id="8" name="Text 6"/>
          <p:cNvSpPr txBox="1"/>
          <p:nvPr/>
        </p:nvSpPr>
        <p:spPr>
          <a:xfrm>
            <a:off x="640080" y="1783080"/>
            <a:ext cx="3291840" cy="297180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Anrechnung strombasierter Kraftstoffe und mitverarbeiteter biogener Öle auf die THG-Quote</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Anrechnungsfaktor 3 für RFNBO (zuvor 2)</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Strombezugskriterien der DelVO (EU) 2023/1184 werden national verbindlich</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Zertifizierung aller Wirtschaftsteilnehmer; Register und Datenbank beim Umweltbundesamt</a:t>
            </a:r>
            <a:endParaRPr lang="en-US" sz="1050" dirty="0"/>
          </a:p>
        </p:txBody>
      </p:sp>
      <p:sp>
        <p:nvSpPr>
          <p:cNvPr id="9" name="Shape 7"/>
          <p:cNvSpPr/>
          <p:nvPr/>
        </p:nvSpPr>
        <p:spPr>
          <a:xfrm>
            <a:off x="4251960" y="1280160"/>
            <a:ext cx="3657600" cy="3566160"/>
          </a:xfrm>
          <a:prstGeom prst="roundRect">
            <a:avLst>
              <a:gd name="adj" fmla="val 3077"/>
            </a:avLst>
          </a:prstGeom>
          <a:solidFill>
            <a:srgbClr val="E4EFEF"/>
          </a:solidFill>
          <a:ln w="12700">
            <a:solidFill>
              <a:srgbClr val="E4EFEF"/>
            </a:solidFill>
            <a:prstDash val="solid"/>
          </a:ln>
        </p:spPr>
      </p:sp>
      <p:sp>
        <p:nvSpPr>
          <p:cNvPr id="10" name="Text 8"/>
          <p:cNvSpPr txBox="1"/>
          <p:nvPr/>
        </p:nvSpPr>
        <p:spPr>
          <a:xfrm>
            <a:off x="4434840" y="1389888"/>
            <a:ext cx="329184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Neu ab 2026 (THG-Quote-Gesetz)</a:t>
            </a:r>
            <a:endParaRPr lang="en-US" sz="1500" dirty="0"/>
          </a:p>
        </p:txBody>
      </p:sp>
      <p:sp>
        <p:nvSpPr>
          <p:cNvPr id="11" name="Text 9"/>
          <p:cNvSpPr txBox="1"/>
          <p:nvPr/>
        </p:nvSpPr>
        <p:spPr>
          <a:xfrm>
            <a:off x="4434840" y="1783080"/>
            <a:ext cx="3291840" cy="297180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Verbindliche RFNBO-Mindestquote ab 2030 mit eigener Pönale 120 €/GJ</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Bis 2029: Anreiz allein über Mehrfachanrechnung und Quotenhandel</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Grüner Wasserstoff in Raffinerien bleibt anrechenbar (Art. 25 Abs. 1 UAbs. 4 RED III)</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Luft- und Schifffahrt: Wechselwirkung mit ReFuelEU Aviation und FuelEU Maritime (Anrechnung nach Art. 27 Abs. 1 lit. b)</a:t>
            </a:r>
            <a:endParaRPr lang="en-US" sz="1050" dirty="0"/>
          </a:p>
        </p:txBody>
      </p:sp>
      <p:sp>
        <p:nvSpPr>
          <p:cNvPr id="12" name="Shape 10"/>
          <p:cNvSpPr/>
          <p:nvPr/>
        </p:nvSpPr>
        <p:spPr>
          <a:xfrm>
            <a:off x="8046720" y="1280160"/>
            <a:ext cx="3657600" cy="3566160"/>
          </a:xfrm>
          <a:prstGeom prst="roundRect">
            <a:avLst>
              <a:gd name="adj" fmla="val 3077"/>
            </a:avLst>
          </a:prstGeom>
          <a:solidFill>
            <a:srgbClr val="FCEFD6"/>
          </a:solidFill>
          <a:ln w="12700">
            <a:solidFill>
              <a:srgbClr val="FCEFD6"/>
            </a:solidFill>
            <a:prstDash val="solid"/>
          </a:ln>
        </p:spPr>
      </p:sp>
      <p:sp>
        <p:nvSpPr>
          <p:cNvPr id="13" name="Text 11"/>
          <p:cNvSpPr txBox="1"/>
          <p:nvPr/>
        </p:nvSpPr>
        <p:spPr>
          <a:xfrm>
            <a:off x="8229600" y="1389888"/>
            <a:ext cx="329184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Bewertung</a:t>
            </a:r>
            <a:endParaRPr lang="en-US" sz="1500" dirty="0"/>
          </a:p>
        </p:txBody>
      </p:sp>
      <p:sp>
        <p:nvSpPr>
          <p:cNvPr id="14" name="Text 12"/>
          <p:cNvSpPr txBox="1"/>
          <p:nvPr/>
        </p:nvSpPr>
        <p:spPr>
          <a:xfrm>
            <a:off x="8229600" y="1783080"/>
            <a:ext cx="3291840" cy="297180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Art. 25 bis 27 gelten damit als umgesetzt; Notifizierung nach Inkrafttreten am 7.6.2026</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Streitpunkt bleibt die Höhe: 1,5 % RFNBO 2030 liegt über dem EU-Minimum (1 %), unter Frankreich (1,5 %, aber mit „low carbon“) und den Niederlanden (1,8 %)</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Marktsignal: Quotenhandel bepreist RFNBO-Wasserstoff nach Branchenangaben mit bis zu 15 €/kg (Erwartung 2026)</a:t>
            </a:r>
            <a:endParaRPr lang="en-US" sz="1050" dirty="0"/>
          </a:p>
        </p:txBody>
      </p:sp>
      <p:sp>
        <p:nvSpPr>
          <p:cNvPr id="15" name="Shape 13"/>
          <p:cNvSpPr/>
          <p:nvPr/>
        </p:nvSpPr>
        <p:spPr>
          <a:xfrm>
            <a:off x="457200" y="5120640"/>
            <a:ext cx="1760220" cy="502920"/>
          </a:xfrm>
          <a:prstGeom prst="roundRect">
            <a:avLst>
              <a:gd name="adj" fmla="val 18182"/>
            </a:avLst>
          </a:prstGeom>
          <a:solidFill>
            <a:srgbClr val="14595B"/>
          </a:solidFill>
          <a:ln w="12700">
            <a:solidFill>
              <a:srgbClr val="14595B"/>
            </a:solidFill>
            <a:prstDash val="solid"/>
          </a:ln>
        </p:spPr>
      </p:sp>
      <p:sp>
        <p:nvSpPr>
          <p:cNvPr id="16" name="Text 14"/>
          <p:cNvSpPr txBox="1"/>
          <p:nvPr/>
        </p:nvSpPr>
        <p:spPr>
          <a:xfrm>
            <a:off x="530352" y="5120640"/>
            <a:ext cx="161391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2024 · 37. BImSchV: Faktor 3</a:t>
            </a:r>
            <a:endParaRPr lang="en-US" sz="950" dirty="0"/>
          </a:p>
        </p:txBody>
      </p:sp>
      <p:sp>
        <p:nvSpPr>
          <p:cNvPr id="17" name="Shape 15"/>
          <p:cNvSpPr/>
          <p:nvPr/>
        </p:nvSpPr>
        <p:spPr>
          <a:xfrm>
            <a:off x="2354580" y="5120640"/>
            <a:ext cx="1760220" cy="502920"/>
          </a:xfrm>
          <a:prstGeom prst="roundRect">
            <a:avLst>
              <a:gd name="adj" fmla="val 18182"/>
            </a:avLst>
          </a:prstGeom>
          <a:solidFill>
            <a:srgbClr val="14595B"/>
          </a:solidFill>
          <a:ln w="12700">
            <a:solidFill>
              <a:srgbClr val="14595B"/>
            </a:solidFill>
            <a:prstDash val="solid"/>
          </a:ln>
        </p:spPr>
      </p:sp>
      <p:sp>
        <p:nvSpPr>
          <p:cNvPr id="18" name="Text 16"/>
          <p:cNvSpPr txBox="1"/>
          <p:nvPr/>
        </p:nvSpPr>
        <p:spPr>
          <a:xfrm>
            <a:off x="2427732" y="5120640"/>
            <a:ext cx="161391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7.6.2026 · THG-Quote-Gesetz in Kraft</a:t>
            </a:r>
            <a:endParaRPr lang="en-US" sz="950" dirty="0"/>
          </a:p>
        </p:txBody>
      </p:sp>
      <p:sp>
        <p:nvSpPr>
          <p:cNvPr id="19" name="Shape 17"/>
          <p:cNvSpPr/>
          <p:nvPr/>
        </p:nvSpPr>
        <p:spPr>
          <a:xfrm>
            <a:off x="4251960" y="5120640"/>
            <a:ext cx="1760220" cy="502920"/>
          </a:xfrm>
          <a:prstGeom prst="roundRect">
            <a:avLst>
              <a:gd name="adj" fmla="val 18182"/>
            </a:avLst>
          </a:prstGeom>
          <a:solidFill>
            <a:srgbClr val="14595B"/>
          </a:solidFill>
          <a:ln w="12700">
            <a:solidFill>
              <a:srgbClr val="14595B"/>
            </a:solidFill>
            <a:prstDash val="solid"/>
          </a:ln>
        </p:spPr>
      </p:sp>
      <p:sp>
        <p:nvSpPr>
          <p:cNvPr id="20" name="Text 18"/>
          <p:cNvSpPr txBox="1"/>
          <p:nvPr/>
        </p:nvSpPr>
        <p:spPr>
          <a:xfrm>
            <a:off x="4325112" y="5120640"/>
            <a:ext cx="161391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2027 · Ende Doppelanrechnung</a:t>
            </a:r>
            <a:endParaRPr lang="en-US" sz="950" dirty="0"/>
          </a:p>
        </p:txBody>
      </p:sp>
      <p:sp>
        <p:nvSpPr>
          <p:cNvPr id="21" name="Shape 19"/>
          <p:cNvSpPr/>
          <p:nvPr/>
        </p:nvSpPr>
        <p:spPr>
          <a:xfrm>
            <a:off x="6149340" y="5120640"/>
            <a:ext cx="1760220" cy="502920"/>
          </a:xfrm>
          <a:prstGeom prst="roundRect">
            <a:avLst>
              <a:gd name="adj" fmla="val 18182"/>
            </a:avLst>
          </a:prstGeom>
          <a:solidFill>
            <a:srgbClr val="14595B"/>
          </a:solidFill>
          <a:ln w="12700">
            <a:solidFill>
              <a:srgbClr val="14595B"/>
            </a:solidFill>
            <a:prstDash val="solid"/>
          </a:ln>
        </p:spPr>
      </p:sp>
      <p:sp>
        <p:nvSpPr>
          <p:cNvPr id="22" name="Text 20"/>
          <p:cNvSpPr txBox="1"/>
          <p:nvPr/>
        </p:nvSpPr>
        <p:spPr>
          <a:xfrm>
            <a:off x="6222492" y="5120640"/>
            <a:ext cx="161391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2030 · 1,5 % RFNBO</a:t>
            </a:r>
            <a:endParaRPr lang="en-US" sz="950" dirty="0"/>
          </a:p>
        </p:txBody>
      </p:sp>
      <p:sp>
        <p:nvSpPr>
          <p:cNvPr id="23" name="Shape 21"/>
          <p:cNvSpPr/>
          <p:nvPr/>
        </p:nvSpPr>
        <p:spPr>
          <a:xfrm>
            <a:off x="8046720" y="5120640"/>
            <a:ext cx="1760220" cy="502920"/>
          </a:xfrm>
          <a:prstGeom prst="roundRect">
            <a:avLst>
              <a:gd name="adj" fmla="val 18182"/>
            </a:avLst>
          </a:prstGeom>
          <a:solidFill>
            <a:srgbClr val="14595B"/>
          </a:solidFill>
          <a:ln w="12700">
            <a:solidFill>
              <a:srgbClr val="14595B"/>
            </a:solidFill>
            <a:prstDash val="solid"/>
          </a:ln>
        </p:spPr>
      </p:sp>
      <p:sp>
        <p:nvSpPr>
          <p:cNvPr id="24" name="Text 22"/>
          <p:cNvSpPr txBox="1"/>
          <p:nvPr/>
        </p:nvSpPr>
        <p:spPr>
          <a:xfrm>
            <a:off x="8119872" y="5120640"/>
            <a:ext cx="161391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2032 · 3 % RFNBO</a:t>
            </a:r>
            <a:endParaRPr lang="en-US" sz="950" dirty="0"/>
          </a:p>
        </p:txBody>
      </p:sp>
      <p:sp>
        <p:nvSpPr>
          <p:cNvPr id="25" name="Shape 23"/>
          <p:cNvSpPr/>
          <p:nvPr/>
        </p:nvSpPr>
        <p:spPr>
          <a:xfrm>
            <a:off x="9944100" y="5120640"/>
            <a:ext cx="1760220" cy="502920"/>
          </a:xfrm>
          <a:prstGeom prst="roundRect">
            <a:avLst>
              <a:gd name="adj" fmla="val 18182"/>
            </a:avLst>
          </a:prstGeom>
          <a:solidFill>
            <a:srgbClr val="14595B"/>
          </a:solidFill>
          <a:ln w="12700">
            <a:solidFill>
              <a:srgbClr val="14595B"/>
            </a:solidFill>
            <a:prstDash val="solid"/>
          </a:ln>
        </p:spPr>
      </p:sp>
      <p:sp>
        <p:nvSpPr>
          <p:cNvPr id="26" name="Text 24"/>
          <p:cNvSpPr txBox="1"/>
          <p:nvPr/>
        </p:nvSpPr>
        <p:spPr>
          <a:xfrm>
            <a:off x="10017252" y="5120640"/>
            <a:ext cx="161391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2040 · 10 % RFNBO / 65 % THG</a:t>
            </a:r>
            <a:endParaRPr lang="en-US" sz="950" dirty="0"/>
          </a:p>
        </p:txBody>
      </p:sp>
      <p:sp>
        <p:nvSpPr>
          <p:cNvPr id="27" name="Text 25"/>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Quellen: 37. BImSchV (BGBl. 2024 I Nr. 83); UBA, Vollzug der 37. BImSchV; GvW, Neufassung der 37. BImSchV; greentrax (RFNBO und THG-Quote); H2-news.de (Quotenhandel 2026); DWV-Stellungnahme Februar 2026.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E33"/>
        </a:solidFill>
      </p:bgPr>
    </p:bg>
    <p:spTree>
      <p:nvGrpSpPr>
        <p:cNvPr id="1" name=""/>
        <p:cNvGrpSpPr/>
        <p:nvPr/>
      </p:nvGrpSpPr>
      <p:grpSpPr>
        <a:xfrm>
          <a:off x="0" y="0"/>
          <a:ext cx="0" cy="0"/>
          <a:chOff x="0" y="0"/>
          <a:chExt cx="0" cy="0"/>
        </a:xfrm>
      </p:grpSpPr>
      <p:sp>
        <p:nvSpPr>
          <p:cNvPr id="2" name="Text 0"/>
          <p:cNvSpPr txBox="1"/>
          <p:nvPr/>
        </p:nvSpPr>
        <p:spPr>
          <a:xfrm>
            <a:off x="731520" y="2377440"/>
            <a:ext cx="10515600" cy="10972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Vertiefung Wasserstoff und RFNBO</a:t>
            </a:r>
            <a:endParaRPr lang="en-US" sz="4000" dirty="0"/>
          </a:p>
        </p:txBody>
      </p:sp>
      <p:sp>
        <p:nvSpPr>
          <p:cNvPr id="3" name="Text 1"/>
          <p:cNvSpPr txBox="1"/>
          <p:nvPr/>
        </p:nvSpPr>
        <p:spPr>
          <a:xfrm>
            <a:off x="731520" y="3474720"/>
            <a:ext cx="10515600" cy="731520"/>
          </a:xfrm>
          <a:prstGeom prst="rect">
            <a:avLst/>
          </a:prstGeom>
          <a:noFill/>
          <a:ln/>
        </p:spPr>
        <p:txBody>
          <a:bodyPr wrap="square" lIns="0" tIns="0" rIns="0" bIns="0" rtlCol="0" anchor="ctr"/>
          <a:lstStyle/>
          <a:p>
            <a:pPr indent="0" marL="0">
              <a:buNone/>
            </a:pPr>
            <a:r>
              <a:rPr lang="en-US" sz="1600" dirty="0">
                <a:solidFill>
                  <a:srgbClr val="BFD9D9"/>
                </a:solidFill>
                <a:latin typeface="Calibri" pitchFamily="34" charset="0"/>
                <a:ea typeface="Calibri" pitchFamily="34" charset="-122"/>
                <a:cs typeface="Calibri" pitchFamily="34" charset="-120"/>
              </a:rPr>
              <a:t>WasserstoffBG · Industriequote Art. 22a · Delegierte Rechtsakte 2023/1184 und 2023/1185</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13</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100" b="1" spc="200" kern="0" dirty="0">
                <a:solidFill>
                  <a:srgbClr val="14595B"/>
                </a:solidFill>
                <a:latin typeface="Calibri" pitchFamily="34" charset="0"/>
                <a:ea typeface="Calibri" pitchFamily="34" charset="-122"/>
                <a:cs typeface="Calibri" pitchFamily="34" charset="-120"/>
              </a:rPr>
              <a:t>WASSERSTOFF</a:t>
            </a:r>
            <a:endParaRPr lang="en-US" sz="1100" dirty="0"/>
          </a:p>
        </p:txBody>
      </p:sp>
      <p:sp>
        <p:nvSpPr>
          <p:cNvPr id="5" name="Text 3"/>
          <p:cNvSpPr txBox="1"/>
          <p:nvPr/>
        </p:nvSpPr>
        <p:spPr>
          <a:xfrm>
            <a:off x="457200" y="530352"/>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Wasserstoffbeschleunigungsgesetz: in Kraft seit 2.4.2026</a:t>
            </a:r>
            <a:endParaRPr lang="en-US" sz="2600" dirty="0"/>
          </a:p>
        </p:txBody>
      </p:sp>
      <p:sp>
        <p:nvSpPr>
          <p:cNvPr id="6" name="Text 4"/>
          <p:cNvSpPr txBox="1"/>
          <p:nvPr/>
        </p:nvSpPr>
        <p:spPr>
          <a:xfrm>
            <a:off x="457200" y="1280160"/>
            <a:ext cx="7040880" cy="45720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A2C"/>
                </a:solidFill>
                <a:latin typeface="Calibri" pitchFamily="34" charset="0"/>
                <a:ea typeface="Calibri" pitchFamily="34" charset="-122"/>
                <a:cs typeface="Calibri" pitchFamily="34" charset="-120"/>
              </a:rPr>
              <a:t>Überragendes öffentliches Interesse für Errichtung und Betrieb von Wasserstoffinfrastruktur (§ 4 WasserstoffBG): Elektrolyseure, Leitungen, Speicher, Importterminals, Umwandlungsanlagen, umgestellte Gasleitungen</a:t>
            </a:r>
            <a:endParaRPr lang="en-US" sz="1200" dirty="0"/>
          </a:p>
          <a:p>
            <a:pPr marL="177800" indent="-177800">
              <a:spcAft>
                <a:spcPts val="600"/>
              </a:spcAft>
              <a:buSzPct val="100000"/>
              <a:buChar char="•"/>
            </a:pPr>
            <a:r>
              <a:rPr lang="en-US" sz="1200" dirty="0">
                <a:solidFill>
                  <a:srgbClr val="1F2A2C"/>
                </a:solidFill>
                <a:latin typeface="Calibri" pitchFamily="34" charset="0"/>
                <a:ea typeface="Calibri" pitchFamily="34" charset="-122"/>
                <a:cs typeface="Calibri" pitchFamily="34" charset="-120"/>
              </a:rPr>
              <a:t>Verbindliche Entscheidungsfristen in Genehmigungs- und Erlaubnisverfahren (sieben Monate bzw. ein Jahr, jeweils verlängerbar); Digitalisierung, Vorzeitiger Beginn, Bündelung nach BImSchG und WHG</a:t>
            </a:r>
            <a:endParaRPr lang="en-US" sz="1200" dirty="0"/>
          </a:p>
          <a:p>
            <a:pPr marL="177800" indent="-177800">
              <a:spcAft>
                <a:spcPts val="600"/>
              </a:spcAft>
              <a:buSzPct val="100000"/>
              <a:buChar char="•"/>
            </a:pPr>
            <a:r>
              <a:rPr lang="en-US" sz="1200" dirty="0">
                <a:solidFill>
                  <a:srgbClr val="1F2A2C"/>
                </a:solidFill>
                <a:latin typeface="Calibri" pitchFamily="34" charset="0"/>
                <a:ea typeface="Calibri" pitchFamily="34" charset="-122"/>
                <a:cs typeface="Calibri" pitchFamily="34" charset="-120"/>
              </a:rPr>
              <a:t>Ausschussfassung erweitert Anwendungsbereich auf Anlagen zur Erzeugung von kohlenstoffarmem („blauem“) Wasserstoff; Grüne und Linke lehnten deshalb ab</a:t>
            </a:r>
            <a:endParaRPr lang="en-US" sz="1200" dirty="0"/>
          </a:p>
          <a:p>
            <a:pPr marL="177800" indent="-177800">
              <a:spcAft>
                <a:spcPts val="600"/>
              </a:spcAft>
              <a:buSzPct val="100000"/>
              <a:buChar char="•"/>
            </a:pPr>
            <a:r>
              <a:rPr lang="en-US" sz="1200" dirty="0">
                <a:solidFill>
                  <a:srgbClr val="1F2A2C"/>
                </a:solidFill>
                <a:latin typeface="Calibri" pitchFamily="34" charset="0"/>
                <a:ea typeface="Calibri" pitchFamily="34" charset="-122"/>
                <a:cs typeface="Calibri" pitchFamily="34" charset="-120"/>
              </a:rPr>
              <a:t>RED-III-Bezug: setzt keine Quote um, flankiert aber Art. 16 ff. (Fristen, Vorrang) für die Erzeugungsseite von RFNBO; Kritik: Herkunftsanforderungen aufgeweicht (iwr, bbh)</a:t>
            </a:r>
            <a:endParaRPr lang="en-US" sz="1200" dirty="0"/>
          </a:p>
          <a:p>
            <a:pPr marL="177800" indent="-177800">
              <a:spcAft>
                <a:spcPts val="600"/>
              </a:spcAft>
              <a:buSzPct val="100000"/>
              <a:buChar char="•"/>
            </a:pPr>
            <a:r>
              <a:rPr lang="en-US" sz="1200" dirty="0">
                <a:solidFill>
                  <a:srgbClr val="1F2A2C"/>
                </a:solidFill>
                <a:latin typeface="Calibri" pitchFamily="34" charset="0"/>
                <a:ea typeface="Calibri" pitchFamily="34" charset="-122"/>
                <a:cs typeface="Calibri" pitchFamily="34" charset="-120"/>
              </a:rPr>
              <a:t>Zusammenspiel mit Wasserstoffkernnetz (EnWG § 28r ff.) und Kraftwerksstrategie; Förderkulisse (H2Global, IPCEI, EU Hydrogen Bank) bleibt Hauptmarkttreiber</a:t>
            </a:r>
            <a:endParaRPr lang="en-US" sz="1200" dirty="0"/>
          </a:p>
        </p:txBody>
      </p:sp>
      <p:sp>
        <p:nvSpPr>
          <p:cNvPr id="7" name="Shape 5"/>
          <p:cNvSpPr/>
          <p:nvPr/>
        </p:nvSpPr>
        <p:spPr>
          <a:xfrm>
            <a:off x="7772400" y="1280160"/>
            <a:ext cx="3931920" cy="2377440"/>
          </a:xfrm>
          <a:prstGeom prst="roundRect">
            <a:avLst>
              <a:gd name="adj" fmla="val 4615"/>
            </a:avLst>
          </a:prstGeom>
          <a:solidFill>
            <a:srgbClr val="E4EFEF"/>
          </a:solidFill>
          <a:ln w="12700">
            <a:solidFill>
              <a:srgbClr val="E4EFEF"/>
            </a:solidFill>
            <a:prstDash val="solid"/>
          </a:ln>
        </p:spPr>
      </p:sp>
      <p:sp>
        <p:nvSpPr>
          <p:cNvPr id="8" name="Text 6"/>
          <p:cNvSpPr txBox="1"/>
          <p:nvPr/>
        </p:nvSpPr>
        <p:spPr>
          <a:xfrm>
            <a:off x="7955280" y="1389888"/>
            <a:ext cx="356616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Steckbrief</a:t>
            </a:r>
            <a:endParaRPr lang="en-US" sz="1500" dirty="0"/>
          </a:p>
        </p:txBody>
      </p:sp>
      <p:sp>
        <p:nvSpPr>
          <p:cNvPr id="9" name="Text 7"/>
          <p:cNvSpPr txBox="1"/>
          <p:nvPr/>
        </p:nvSpPr>
        <p:spPr>
          <a:xfrm>
            <a:off x="7955280" y="1783080"/>
            <a:ext cx="3566160" cy="178308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1F2A2C"/>
                </a:solidFill>
                <a:latin typeface="Calibri" pitchFamily="34" charset="0"/>
                <a:ea typeface="Calibri" pitchFamily="34" charset="-122"/>
                <a:cs typeface="Calibri" pitchFamily="34" charset="-120"/>
              </a:rPr>
              <a:t>Gesetz zur Beschleunigung der Verfügbarkeit von Wasserstoff und zur Änderung weiterer Rahmenbedingungen für den Wasserstoffhochlauf</a:t>
            </a:r>
            <a:endParaRPr lang="en-US" sz="1000" dirty="0"/>
          </a:p>
          <a:p>
            <a:pPr marL="152400" indent="-152400">
              <a:spcAft>
                <a:spcPts val="400"/>
              </a:spcAft>
              <a:buSzPct val="100000"/>
              <a:buChar char="•"/>
            </a:pPr>
            <a:r>
              <a:rPr lang="en-US" sz="1000" dirty="0">
                <a:solidFill>
                  <a:srgbClr val="1F2A2C"/>
                </a:solidFill>
                <a:latin typeface="Calibri" pitchFamily="34" charset="0"/>
                <a:ea typeface="Calibri" pitchFamily="34" charset="-122"/>
                <a:cs typeface="Calibri" pitchFamily="34" charset="-120"/>
              </a:rPr>
              <a:t>Bundestag 26.2.2026 (Ausschussfassung 25.2.2026)</a:t>
            </a:r>
            <a:endParaRPr lang="en-US" sz="1000" dirty="0"/>
          </a:p>
          <a:p>
            <a:pPr marL="152400" indent="-152400">
              <a:spcAft>
                <a:spcPts val="400"/>
              </a:spcAft>
              <a:buSzPct val="100000"/>
              <a:buChar char="•"/>
            </a:pPr>
            <a:r>
              <a:rPr lang="en-US" sz="1000" dirty="0">
                <a:solidFill>
                  <a:srgbClr val="1F2A2C"/>
                </a:solidFill>
                <a:latin typeface="Calibri" pitchFamily="34" charset="0"/>
                <a:ea typeface="Calibri" pitchFamily="34" charset="-122"/>
                <a:cs typeface="Calibri" pitchFamily="34" charset="-120"/>
              </a:rPr>
              <a:t>Bundesrat März 2026 (BR-Drs. 128/26)</a:t>
            </a:r>
            <a:endParaRPr lang="en-US" sz="1000" dirty="0"/>
          </a:p>
          <a:p>
            <a:pPr marL="152400" indent="-152400">
              <a:spcAft>
                <a:spcPts val="400"/>
              </a:spcAft>
              <a:buSzPct val="100000"/>
              <a:buChar char="•"/>
            </a:pPr>
            <a:r>
              <a:rPr lang="en-US" sz="1000" dirty="0">
                <a:solidFill>
                  <a:srgbClr val="1F2A2C"/>
                </a:solidFill>
                <a:latin typeface="Calibri" pitchFamily="34" charset="0"/>
                <a:ea typeface="Calibri" pitchFamily="34" charset="-122"/>
                <a:cs typeface="Calibri" pitchFamily="34" charset="-120"/>
              </a:rPr>
              <a:t>BGBl. 2026 I Nr. 84 vom 1.4.2026; in Kraft 2.4.2026</a:t>
            </a:r>
            <a:endParaRPr lang="en-US" sz="1000" dirty="0"/>
          </a:p>
        </p:txBody>
      </p:sp>
      <p:sp>
        <p:nvSpPr>
          <p:cNvPr id="10" name="Shape 8"/>
          <p:cNvSpPr/>
          <p:nvPr/>
        </p:nvSpPr>
        <p:spPr>
          <a:xfrm>
            <a:off x="7772400" y="3840480"/>
            <a:ext cx="3931920" cy="1188720"/>
          </a:xfrm>
          <a:prstGeom prst="roundRect">
            <a:avLst>
              <a:gd name="adj" fmla="val 9231"/>
            </a:avLst>
          </a:prstGeom>
          <a:solidFill>
            <a:srgbClr val="DFF0E6"/>
          </a:solidFill>
          <a:ln w="12700">
            <a:solidFill>
              <a:srgbClr val="DFF0E6"/>
            </a:solidFill>
            <a:prstDash val="solid"/>
          </a:ln>
        </p:spPr>
      </p:sp>
      <p:sp>
        <p:nvSpPr>
          <p:cNvPr id="11" name="Text 9"/>
          <p:cNvSpPr txBox="1"/>
          <p:nvPr/>
        </p:nvSpPr>
        <p:spPr>
          <a:xfrm>
            <a:off x="7955280" y="3950208"/>
            <a:ext cx="356616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Einordnung</a:t>
            </a:r>
            <a:endParaRPr lang="en-US" sz="1500" dirty="0"/>
          </a:p>
        </p:txBody>
      </p:sp>
      <p:sp>
        <p:nvSpPr>
          <p:cNvPr id="12" name="Text 10"/>
          <p:cNvSpPr txBox="1"/>
          <p:nvPr/>
        </p:nvSpPr>
        <p:spPr>
          <a:xfrm>
            <a:off x="7955280" y="4343400"/>
            <a:ext cx="3566160" cy="59436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Status RED III: flankierend umgesetzt</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Leerstelle: Nachfrageseite (Industriequote) bleibt ungeregelt</a:t>
            </a:r>
            <a:endParaRPr lang="en-US" sz="1050" dirty="0"/>
          </a:p>
        </p:txBody>
      </p:sp>
      <p:sp>
        <p:nvSpPr>
          <p:cNvPr id="13" name="Shape 11"/>
          <p:cNvSpPr/>
          <p:nvPr/>
        </p:nvSpPr>
        <p:spPr>
          <a:xfrm>
            <a:off x="457200" y="5257800"/>
            <a:ext cx="2139696" cy="502920"/>
          </a:xfrm>
          <a:prstGeom prst="roundRect">
            <a:avLst>
              <a:gd name="adj" fmla="val 18182"/>
            </a:avLst>
          </a:prstGeom>
          <a:solidFill>
            <a:srgbClr val="14595B"/>
          </a:solidFill>
          <a:ln w="12700">
            <a:solidFill>
              <a:srgbClr val="14595B"/>
            </a:solidFill>
            <a:prstDash val="solid"/>
          </a:ln>
        </p:spPr>
      </p:sp>
      <p:sp>
        <p:nvSpPr>
          <p:cNvPr id="14" name="Text 12"/>
          <p:cNvSpPr txBox="1"/>
          <p:nvPr/>
        </p:nvSpPr>
        <p:spPr>
          <a:xfrm>
            <a:off x="530352" y="525780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Referentenentwurf 2025 (BMWE)</a:t>
            </a:r>
            <a:endParaRPr lang="en-US" sz="950" dirty="0"/>
          </a:p>
        </p:txBody>
      </p:sp>
      <p:sp>
        <p:nvSpPr>
          <p:cNvPr id="15" name="Shape 13"/>
          <p:cNvSpPr/>
          <p:nvPr/>
        </p:nvSpPr>
        <p:spPr>
          <a:xfrm>
            <a:off x="2734056" y="5257800"/>
            <a:ext cx="2139696" cy="502920"/>
          </a:xfrm>
          <a:prstGeom prst="roundRect">
            <a:avLst>
              <a:gd name="adj" fmla="val 18182"/>
            </a:avLst>
          </a:prstGeom>
          <a:solidFill>
            <a:srgbClr val="14595B"/>
          </a:solidFill>
          <a:ln w="12700">
            <a:solidFill>
              <a:srgbClr val="14595B"/>
            </a:solidFill>
            <a:prstDash val="solid"/>
          </a:ln>
        </p:spPr>
      </p:sp>
      <p:sp>
        <p:nvSpPr>
          <p:cNvPr id="16" name="Text 14"/>
          <p:cNvSpPr txBox="1"/>
          <p:nvPr/>
        </p:nvSpPr>
        <p:spPr>
          <a:xfrm>
            <a:off x="2807208" y="525780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26.2.2026 · Bundestag</a:t>
            </a:r>
            <a:endParaRPr lang="en-US" sz="950" dirty="0"/>
          </a:p>
        </p:txBody>
      </p:sp>
      <p:sp>
        <p:nvSpPr>
          <p:cNvPr id="17" name="Shape 15"/>
          <p:cNvSpPr/>
          <p:nvPr/>
        </p:nvSpPr>
        <p:spPr>
          <a:xfrm>
            <a:off x="5010912" y="5257800"/>
            <a:ext cx="2139696" cy="502920"/>
          </a:xfrm>
          <a:prstGeom prst="roundRect">
            <a:avLst>
              <a:gd name="adj" fmla="val 18182"/>
            </a:avLst>
          </a:prstGeom>
          <a:solidFill>
            <a:srgbClr val="14595B"/>
          </a:solidFill>
          <a:ln w="12700">
            <a:solidFill>
              <a:srgbClr val="14595B"/>
            </a:solidFill>
            <a:prstDash val="solid"/>
          </a:ln>
        </p:spPr>
      </p:sp>
      <p:sp>
        <p:nvSpPr>
          <p:cNvPr id="18" name="Text 16"/>
          <p:cNvSpPr txBox="1"/>
          <p:nvPr/>
        </p:nvSpPr>
        <p:spPr>
          <a:xfrm>
            <a:off x="5084064" y="525780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März 2026 · Bundesrat (Drs. 128/26)</a:t>
            </a:r>
            <a:endParaRPr lang="en-US" sz="950" dirty="0"/>
          </a:p>
        </p:txBody>
      </p:sp>
      <p:sp>
        <p:nvSpPr>
          <p:cNvPr id="19" name="Shape 17"/>
          <p:cNvSpPr/>
          <p:nvPr/>
        </p:nvSpPr>
        <p:spPr>
          <a:xfrm>
            <a:off x="7287768" y="5257800"/>
            <a:ext cx="2139696" cy="502920"/>
          </a:xfrm>
          <a:prstGeom prst="roundRect">
            <a:avLst>
              <a:gd name="adj" fmla="val 18182"/>
            </a:avLst>
          </a:prstGeom>
          <a:solidFill>
            <a:srgbClr val="14595B"/>
          </a:solidFill>
          <a:ln w="12700">
            <a:solidFill>
              <a:srgbClr val="14595B"/>
            </a:solidFill>
            <a:prstDash val="solid"/>
          </a:ln>
        </p:spPr>
      </p:sp>
      <p:sp>
        <p:nvSpPr>
          <p:cNvPr id="20" name="Text 18"/>
          <p:cNvSpPr txBox="1"/>
          <p:nvPr/>
        </p:nvSpPr>
        <p:spPr>
          <a:xfrm>
            <a:off x="7360920" y="525780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1.4.2026 · BGBl. 2026 I Nr. 84</a:t>
            </a:r>
            <a:endParaRPr lang="en-US" sz="950" dirty="0"/>
          </a:p>
        </p:txBody>
      </p:sp>
      <p:sp>
        <p:nvSpPr>
          <p:cNvPr id="21" name="Shape 19"/>
          <p:cNvSpPr/>
          <p:nvPr/>
        </p:nvSpPr>
        <p:spPr>
          <a:xfrm>
            <a:off x="9564624" y="5257800"/>
            <a:ext cx="2139696" cy="502920"/>
          </a:xfrm>
          <a:prstGeom prst="roundRect">
            <a:avLst>
              <a:gd name="adj" fmla="val 18182"/>
            </a:avLst>
          </a:prstGeom>
          <a:solidFill>
            <a:srgbClr val="14595B"/>
          </a:solidFill>
          <a:ln w="12700">
            <a:solidFill>
              <a:srgbClr val="14595B"/>
            </a:solidFill>
            <a:prstDash val="solid"/>
          </a:ln>
        </p:spPr>
      </p:sp>
      <p:sp>
        <p:nvSpPr>
          <p:cNvPr id="22" name="Text 20"/>
          <p:cNvSpPr txBox="1"/>
          <p:nvPr/>
        </p:nvSpPr>
        <p:spPr>
          <a:xfrm>
            <a:off x="9637776" y="525780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2.4.2026 · Inkrafttreten</a:t>
            </a:r>
            <a:endParaRPr lang="en-US" sz="950" dirty="0"/>
          </a:p>
        </p:txBody>
      </p:sp>
      <p:sp>
        <p:nvSpPr>
          <p:cNvPr id="23" name="Text 21"/>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Quellen: BGBl. 2026 I Nr. 84; gesetze-im-internet.de/wasserstoffbg; Bundestag Textarchiv KW 9/2026 und hib 25.2.2026; Bundesregierung.de „Bessere Bedingungen beim Wasserstoffhochlauf“; GvW, iwr, bbh-Blog 2026; Plattform H2BW.</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14</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100" b="1" spc="200" kern="0" dirty="0">
                <a:solidFill>
                  <a:srgbClr val="14595B"/>
                </a:solidFill>
                <a:latin typeface="Calibri" pitchFamily="34" charset="0"/>
                <a:ea typeface="Calibri" pitchFamily="34" charset="-122"/>
                <a:cs typeface="Calibri" pitchFamily="34" charset="-120"/>
              </a:rPr>
              <a:t>WASSERSTOFF</a:t>
            </a:r>
            <a:endParaRPr lang="en-US" sz="1100" dirty="0"/>
          </a:p>
        </p:txBody>
      </p:sp>
      <p:sp>
        <p:nvSpPr>
          <p:cNvPr id="5" name="Text 3"/>
          <p:cNvSpPr txBox="1"/>
          <p:nvPr/>
        </p:nvSpPr>
        <p:spPr>
          <a:xfrm>
            <a:off x="457200" y="530352"/>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Industriequote Art. 22a: der größte Verzug</a:t>
            </a:r>
            <a:endParaRPr lang="en-US" sz="2600" dirty="0"/>
          </a:p>
        </p:txBody>
      </p:sp>
      <p:sp>
        <p:nvSpPr>
          <p:cNvPr id="6" name="Shape 4"/>
          <p:cNvSpPr/>
          <p:nvPr/>
        </p:nvSpPr>
        <p:spPr>
          <a:xfrm>
            <a:off x="457200" y="1280160"/>
            <a:ext cx="5120640" cy="2331720"/>
          </a:xfrm>
          <a:prstGeom prst="roundRect">
            <a:avLst>
              <a:gd name="adj" fmla="val 4706"/>
            </a:avLst>
          </a:prstGeom>
          <a:solidFill>
            <a:srgbClr val="F8E0DD"/>
          </a:solidFill>
          <a:ln w="12700">
            <a:solidFill>
              <a:srgbClr val="F8E0DD"/>
            </a:solidFill>
            <a:prstDash val="solid"/>
          </a:ln>
        </p:spPr>
      </p:sp>
      <p:sp>
        <p:nvSpPr>
          <p:cNvPr id="7" name="Text 5"/>
          <p:cNvSpPr txBox="1"/>
          <p:nvPr/>
        </p:nvSpPr>
        <p:spPr>
          <a:xfrm>
            <a:off x="640080" y="1389888"/>
            <a:ext cx="475488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Stand September 2026</a:t>
            </a:r>
            <a:endParaRPr lang="en-US" sz="1500" dirty="0"/>
          </a:p>
        </p:txBody>
      </p:sp>
      <p:sp>
        <p:nvSpPr>
          <p:cNvPr id="8" name="Text 6"/>
          <p:cNvSpPr txBox="1"/>
          <p:nvPr/>
        </p:nvSpPr>
        <p:spPr>
          <a:xfrm>
            <a:off x="640080" y="1783080"/>
            <a:ext cx="4754880" cy="173736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Frist 21.5.2025 verstrichen; kein Gesetz, kein Referentenentwurf, kein Eckpunktepapier der Bundesregierung</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Mahnschreiben der Kommission vom 24.7.2025 (Gesamtumsetzung) erfasst diesen Punkt</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Nationaler Wasserstoffrat: Verpflichtung auf Mitgliedstaatsebene halten, Unternehmen nicht direkt belasten</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EWI (Juli 2026): rund 37 TWh grauer H2, davon ca. 17 TWh quotenrelevant; 42 % ergeben ca. 7 TWh grünen H2 in 2030</a:t>
            </a:r>
            <a:endParaRPr lang="en-US" sz="1050" dirty="0"/>
          </a:p>
        </p:txBody>
      </p:sp>
      <p:sp>
        <p:nvSpPr>
          <p:cNvPr id="9" name="Shape 7"/>
          <p:cNvSpPr/>
          <p:nvPr/>
        </p:nvSpPr>
        <p:spPr>
          <a:xfrm>
            <a:off x="457200" y="3749040"/>
            <a:ext cx="5120640" cy="2103120"/>
          </a:xfrm>
          <a:prstGeom prst="roundRect">
            <a:avLst>
              <a:gd name="adj" fmla="val 5217"/>
            </a:avLst>
          </a:prstGeom>
          <a:solidFill>
            <a:srgbClr val="E4EFEF"/>
          </a:solidFill>
          <a:ln w="12700">
            <a:solidFill>
              <a:srgbClr val="E4EFEF"/>
            </a:solidFill>
            <a:prstDash val="solid"/>
          </a:ln>
        </p:spPr>
      </p:sp>
      <p:sp>
        <p:nvSpPr>
          <p:cNvPr id="10" name="Text 8"/>
          <p:cNvSpPr txBox="1"/>
          <p:nvPr/>
        </p:nvSpPr>
        <p:spPr>
          <a:xfrm>
            <a:off x="640080" y="3858768"/>
            <a:ext cx="475488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Reduktionsoption Art. 22a Abs. 1</a:t>
            </a:r>
            <a:endParaRPr lang="en-US" sz="1500" dirty="0"/>
          </a:p>
        </p:txBody>
      </p:sp>
      <p:sp>
        <p:nvSpPr>
          <p:cNvPr id="11" name="Text 9"/>
          <p:cNvSpPr txBox="1"/>
          <p:nvPr/>
        </p:nvSpPr>
        <p:spPr>
          <a:xfrm>
            <a:off x="640080" y="4251960"/>
            <a:ext cx="4754880" cy="150876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Absenkung auf 20 % (2030) möglich, wenn der NECP-Beitrag zum EU-Ziel erfüllt wird und der Anteil fossilen Wasserstoffs 23 % (2030) bzw. 20 % (2035) nicht übersteigt</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Deutschland: Voraussetzungen derzeit nicht belegt (41 %-Beitrag, hoher Grauwasserstoffanteil)</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852160" y="1280160"/>
          <a:ext cx="5852160" cy="914400"/>
        </p:xfrm>
        <a:graphic>
          <a:graphicData uri="http://schemas.openxmlformats.org/drawingml/2006/table">
            <a:tbl>
              <a:tblPr/>
              <a:tblGrid>
                <a:gridCol w="2011680"/>
                <a:gridCol w="2286000"/>
                <a:gridCol w="1554480"/>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Instrumentenoption</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Beispiel</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Bewertung</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r>
              <a:tr h="0">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Quote auf industrielle H2-Verbraucher</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Niederlande (Gesetzentwurf im Parlament; Ausnahme ohne Netzanschluss)</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direkt, aber Standortrisiko</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Quote auf H2-Erzeuger oder Gasversorger</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Diskussion BDEW/DWV</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breite Basis, Nachweislast</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Produktbezogener Ansatz</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EWI: Endprodukte Stahl, Ammoniak, Düngemittel</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wettbewerbsneutraler, komplex</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Förderung statt Quote</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Dänemark; H2Global, EU Hydrogen Bank, Klimaschutzverträge</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haushaltsabhängig, Zielverfehlung möglich</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Verpflichtung auf Staatsebene</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NWR-Empfehlung 2024</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950" dirty="0">
                          <a:solidFill>
                            <a:srgbClr val="1F2A2C"/>
                          </a:solidFill>
                          <a:latin typeface="Calibri" pitchFamily="34" charset="0"/>
                          <a:ea typeface="Calibri" pitchFamily="34" charset="-122"/>
                          <a:cs typeface="Calibri" pitchFamily="34" charset="-120"/>
                        </a:rPr>
                        <a:t>Kommission erwartet Instrumente</a:t>
                      </a:r>
                      <a:endParaRPr lang="en-US" sz="9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bl>
          </a:graphicData>
        </a:graphic>
      </p:graphicFrame>
      <p:sp>
        <p:nvSpPr>
          <p:cNvPr id="13" name="Shape 10"/>
          <p:cNvSpPr/>
          <p:nvPr/>
        </p:nvSpPr>
        <p:spPr>
          <a:xfrm>
            <a:off x="5852160" y="3840480"/>
            <a:ext cx="5852160" cy="2011680"/>
          </a:xfrm>
          <a:prstGeom prst="roundRect">
            <a:avLst>
              <a:gd name="adj" fmla="val 5455"/>
            </a:avLst>
          </a:prstGeom>
          <a:solidFill>
            <a:srgbClr val="E4EFEF"/>
          </a:solidFill>
          <a:ln w="12700">
            <a:solidFill>
              <a:srgbClr val="E4EFEF"/>
            </a:solidFill>
            <a:prstDash val="solid"/>
          </a:ln>
        </p:spPr>
      </p:sp>
      <p:sp>
        <p:nvSpPr>
          <p:cNvPr id="14" name="Text 11"/>
          <p:cNvSpPr txBox="1"/>
          <p:nvPr/>
        </p:nvSpPr>
        <p:spPr>
          <a:xfrm>
            <a:off x="6035040" y="3931920"/>
            <a:ext cx="5486400" cy="320040"/>
          </a:xfrm>
          <a:prstGeom prst="rect">
            <a:avLst/>
          </a:prstGeom>
          <a:noFill/>
          <a:ln/>
        </p:spPr>
        <p:txBody>
          <a:bodyPr wrap="square" lIns="0" tIns="0" rIns="0" bIns="0" rtlCol="0" anchor="ctr"/>
          <a:lstStyle/>
          <a:p>
            <a:pPr indent="0" marL="0">
              <a:buNone/>
            </a:pPr>
            <a:r>
              <a:rPr lang="en-US" sz="1300" b="1" dirty="0">
                <a:solidFill>
                  <a:srgbClr val="0B2E33"/>
                </a:solidFill>
                <a:latin typeface="Cambria" pitchFamily="34" charset="0"/>
                <a:ea typeface="Cambria" pitchFamily="34" charset="-122"/>
                <a:cs typeface="Cambria" pitchFamily="34" charset="-120"/>
              </a:rPr>
              <a:t>Mengengerüst Deutschland (EWI, Juli 2026)</a:t>
            </a:r>
            <a:endParaRPr lang="en-US" sz="1300" dirty="0"/>
          </a:p>
        </p:txBody>
      </p:sp>
      <p:sp>
        <p:nvSpPr>
          <p:cNvPr id="15" name="Text 12"/>
          <p:cNvSpPr txBox="1"/>
          <p:nvPr/>
        </p:nvSpPr>
        <p:spPr>
          <a:xfrm>
            <a:off x="6035040" y="4251960"/>
            <a:ext cx="1828800" cy="822960"/>
          </a:xfrm>
          <a:prstGeom prst="rect">
            <a:avLst/>
          </a:prstGeom>
          <a:noFill/>
          <a:ln/>
        </p:spPr>
        <p:txBody>
          <a:bodyPr wrap="square" lIns="0" tIns="0" rIns="0" bIns="0" rtlCol="0" anchor="b"/>
          <a:lstStyle/>
          <a:p>
            <a:pPr algn="l" indent="0" marL="0">
              <a:buNone/>
            </a:pPr>
            <a:r>
              <a:rPr lang="en-US" sz="4000" b="1" dirty="0">
                <a:solidFill>
                  <a:srgbClr val="5C6B6D"/>
                </a:solidFill>
                <a:latin typeface="Cambria" pitchFamily="34" charset="0"/>
                <a:ea typeface="Cambria" pitchFamily="34" charset="-122"/>
                <a:cs typeface="Cambria" pitchFamily="34" charset="-120"/>
              </a:rPr>
              <a:t>37 TWh</a:t>
            </a:r>
            <a:endParaRPr lang="en-US" sz="4000" dirty="0"/>
          </a:p>
        </p:txBody>
      </p:sp>
      <p:sp>
        <p:nvSpPr>
          <p:cNvPr id="16" name="Text 13"/>
          <p:cNvSpPr txBox="1"/>
          <p:nvPr/>
        </p:nvSpPr>
        <p:spPr>
          <a:xfrm>
            <a:off x="6035040" y="5093208"/>
            <a:ext cx="1828800" cy="548640"/>
          </a:xfrm>
          <a:prstGeom prst="rect">
            <a:avLst/>
          </a:prstGeom>
          <a:noFill/>
          <a:ln/>
        </p:spPr>
        <p:txBody>
          <a:bodyPr wrap="square" lIns="0" tIns="0" rIns="0" bIns="0" rtlCol="0" anchor="t"/>
          <a:lstStyle/>
          <a:p>
            <a:pPr indent="0" marL="0">
              <a:buNone/>
            </a:pPr>
            <a:r>
              <a:rPr lang="en-US" sz="1100" dirty="0">
                <a:solidFill>
                  <a:srgbClr val="5C6B6D"/>
                </a:solidFill>
                <a:latin typeface="Calibri" pitchFamily="34" charset="0"/>
                <a:ea typeface="Calibri" pitchFamily="34" charset="-122"/>
                <a:cs typeface="Calibri" pitchFamily="34" charset="-120"/>
              </a:rPr>
              <a:t>grauer Wasserstoff heute</a:t>
            </a:r>
            <a:endParaRPr lang="en-US" sz="1100" dirty="0"/>
          </a:p>
        </p:txBody>
      </p:sp>
      <p:sp>
        <p:nvSpPr>
          <p:cNvPr id="17" name="Text 14"/>
          <p:cNvSpPr txBox="1"/>
          <p:nvPr/>
        </p:nvSpPr>
        <p:spPr>
          <a:xfrm>
            <a:off x="7955280" y="4251960"/>
            <a:ext cx="1828800" cy="822960"/>
          </a:xfrm>
          <a:prstGeom prst="rect">
            <a:avLst/>
          </a:prstGeom>
          <a:noFill/>
          <a:ln/>
        </p:spPr>
        <p:txBody>
          <a:bodyPr wrap="square" lIns="0" tIns="0" rIns="0" bIns="0" rtlCol="0" anchor="b"/>
          <a:lstStyle/>
          <a:p>
            <a:pPr algn="l" indent="0" marL="0">
              <a:buNone/>
            </a:pPr>
            <a:r>
              <a:rPr lang="en-US" sz="4000" b="1" dirty="0">
                <a:solidFill>
                  <a:srgbClr val="14595B"/>
                </a:solidFill>
                <a:latin typeface="Cambria" pitchFamily="34" charset="0"/>
                <a:ea typeface="Cambria" pitchFamily="34" charset="-122"/>
                <a:cs typeface="Cambria" pitchFamily="34" charset="-120"/>
              </a:rPr>
              <a:t>17 TWh</a:t>
            </a:r>
            <a:endParaRPr lang="en-US" sz="4000" dirty="0"/>
          </a:p>
        </p:txBody>
      </p:sp>
      <p:sp>
        <p:nvSpPr>
          <p:cNvPr id="18" name="Text 15"/>
          <p:cNvSpPr txBox="1"/>
          <p:nvPr/>
        </p:nvSpPr>
        <p:spPr>
          <a:xfrm>
            <a:off x="7955280" y="5093208"/>
            <a:ext cx="1828800" cy="548640"/>
          </a:xfrm>
          <a:prstGeom prst="rect">
            <a:avLst/>
          </a:prstGeom>
          <a:noFill/>
          <a:ln/>
        </p:spPr>
        <p:txBody>
          <a:bodyPr wrap="square" lIns="0" tIns="0" rIns="0" bIns="0" rtlCol="0" anchor="t"/>
          <a:lstStyle/>
          <a:p>
            <a:pPr indent="0" marL="0">
              <a:buNone/>
            </a:pPr>
            <a:r>
              <a:rPr lang="en-US" sz="1100" dirty="0">
                <a:solidFill>
                  <a:srgbClr val="5C6B6D"/>
                </a:solidFill>
                <a:latin typeface="Calibri" pitchFamily="34" charset="0"/>
                <a:ea typeface="Calibri" pitchFamily="34" charset="-122"/>
                <a:cs typeface="Calibri" pitchFamily="34" charset="-120"/>
              </a:rPr>
              <a:t>davon quotenrelevant</a:t>
            </a:r>
            <a:endParaRPr lang="en-US" sz="1100" dirty="0"/>
          </a:p>
        </p:txBody>
      </p:sp>
      <p:sp>
        <p:nvSpPr>
          <p:cNvPr id="19" name="Text 16"/>
          <p:cNvSpPr txBox="1"/>
          <p:nvPr/>
        </p:nvSpPr>
        <p:spPr>
          <a:xfrm>
            <a:off x="9875520" y="4251960"/>
            <a:ext cx="1737360" cy="822960"/>
          </a:xfrm>
          <a:prstGeom prst="rect">
            <a:avLst/>
          </a:prstGeom>
          <a:noFill/>
          <a:ln/>
        </p:spPr>
        <p:txBody>
          <a:bodyPr wrap="square" lIns="0" tIns="0" rIns="0" bIns="0" rtlCol="0" anchor="b"/>
          <a:lstStyle/>
          <a:p>
            <a:pPr algn="l" indent="0" marL="0">
              <a:buNone/>
            </a:pPr>
            <a:r>
              <a:rPr lang="en-US" sz="4000" b="1" dirty="0">
                <a:solidFill>
                  <a:srgbClr val="B23A33"/>
                </a:solidFill>
                <a:latin typeface="Cambria" pitchFamily="34" charset="0"/>
                <a:ea typeface="Cambria" pitchFamily="34" charset="-122"/>
                <a:cs typeface="Cambria" pitchFamily="34" charset="-120"/>
              </a:rPr>
              <a:t>7 TWh</a:t>
            </a:r>
            <a:endParaRPr lang="en-US" sz="4000" dirty="0"/>
          </a:p>
        </p:txBody>
      </p:sp>
      <p:sp>
        <p:nvSpPr>
          <p:cNvPr id="20" name="Text 17"/>
          <p:cNvSpPr txBox="1"/>
          <p:nvPr/>
        </p:nvSpPr>
        <p:spPr>
          <a:xfrm>
            <a:off x="9875520" y="5093208"/>
            <a:ext cx="1737360" cy="548640"/>
          </a:xfrm>
          <a:prstGeom prst="rect">
            <a:avLst/>
          </a:prstGeom>
          <a:noFill/>
          <a:ln/>
        </p:spPr>
        <p:txBody>
          <a:bodyPr wrap="square" lIns="0" tIns="0" rIns="0" bIns="0" rtlCol="0" anchor="t"/>
          <a:lstStyle/>
          <a:p>
            <a:pPr indent="0" marL="0">
              <a:buNone/>
            </a:pPr>
            <a:r>
              <a:rPr lang="en-US" sz="1100" dirty="0">
                <a:solidFill>
                  <a:srgbClr val="5C6B6D"/>
                </a:solidFill>
                <a:latin typeface="Calibri" pitchFamily="34" charset="0"/>
                <a:ea typeface="Calibri" pitchFamily="34" charset="-122"/>
                <a:cs typeface="Calibri" pitchFamily="34" charset="-120"/>
              </a:rPr>
              <a:t>grüner H2 für 42 % in 2030</a:t>
            </a:r>
            <a:endParaRPr lang="en-US" sz="1100" dirty="0"/>
          </a:p>
        </p:txBody>
      </p:sp>
      <p:sp>
        <p:nvSpPr>
          <p:cNvPr id="21" name="Text 18"/>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Quellen: EWI, „Umsetzung der RED III in der deutschen Industrie“ (15.7.2026); Nationaler Wasserstoffrat, Stellungnahme 1.3.2024; Hydrogen Europe, RED III Industry Target Implementation Options (Juni 2026); Wood Mackenzie 2026; Lexology/Osborne Clarke zu NL; Stiftung Umweltenergierecht.</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15</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100" b="1" spc="200" kern="0" dirty="0">
                <a:solidFill>
                  <a:srgbClr val="14595B"/>
                </a:solidFill>
                <a:latin typeface="Calibri" pitchFamily="34" charset="0"/>
                <a:ea typeface="Calibri" pitchFamily="34" charset="-122"/>
                <a:cs typeface="Calibri" pitchFamily="34" charset="-120"/>
              </a:rPr>
              <a:t>WASSERSTOFF</a:t>
            </a:r>
            <a:endParaRPr lang="en-US" sz="1100" dirty="0"/>
          </a:p>
        </p:txBody>
      </p:sp>
      <p:sp>
        <p:nvSpPr>
          <p:cNvPr id="5" name="Text 3"/>
          <p:cNvSpPr txBox="1"/>
          <p:nvPr/>
        </p:nvSpPr>
        <p:spPr>
          <a:xfrm>
            <a:off x="457200" y="530352"/>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EU-RFNBO-Regelwerk: Kriterien, Übergangsfristen, Revision 2026</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2468880"/>
                <a:gridCol w="5394960"/>
                <a:gridCol w="1737360"/>
                <a:gridCol w="164592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Regel</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Inhalt</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Zeitpunkt</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r>
              <a:tr h="0">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DelVO (EU) 2023/1184: Additionalität</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Neue EE-Anlagen, nicht älter als 36 Monate vor dem Elektrolyseur; Bestandsschutz für Elektrolyseure mit Inbetriebnahme bis Ende 2027 bis 1.1.2038</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seit 2023</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050" b="1" dirty="0">
                          <a:solidFill>
                            <a:srgbClr val="1E5F3A"/>
                          </a:solidFill>
                          <a:latin typeface="Calibri" pitchFamily="34" charset="0"/>
                          <a:ea typeface="Calibri" pitchFamily="34" charset="-122"/>
                          <a:cs typeface="Calibri" pitchFamily="34" charset="-120"/>
                        </a:rPr>
                        <a:t>gesetzlich fixiert</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DFF0E6"/>
                    </a:solidFill>
                  </a:tcPr>
                </a:tc>
              </a:tr>
              <a:tr h="0">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Zeitliche Korrelation</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Monatlich bis 31.12.2029, stündlich ab 1.1.2030; Gebotszonenregel (geografische Korrelation)</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Stufe 2030</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050" b="1" dirty="0">
                          <a:solidFill>
                            <a:srgbClr val="1E5F3A"/>
                          </a:solidFill>
                          <a:latin typeface="Calibri" pitchFamily="34" charset="0"/>
                          <a:ea typeface="Calibri" pitchFamily="34" charset="-122"/>
                          <a:cs typeface="Calibri" pitchFamily="34" charset="-120"/>
                        </a:rPr>
                        <a:t>gesetzlich fixiert</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DFF0E6"/>
                    </a:solidFill>
                  </a:tcPr>
                </a:tc>
              </a:tr>
              <a:tr h="0">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DelVO (EU) 2023/1185: THG-Methodik</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70 % THG-Minderung gegenüber fossilem Referenzwert 94 g CO2e/MJ</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seit 2023</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050" b="1" dirty="0">
                          <a:solidFill>
                            <a:srgbClr val="1E5F3A"/>
                          </a:solidFill>
                          <a:latin typeface="Calibri" pitchFamily="34" charset="0"/>
                          <a:ea typeface="Calibri" pitchFamily="34" charset="-122"/>
                          <a:cs typeface="Calibri" pitchFamily="34" charset="-120"/>
                        </a:rPr>
                        <a:t>gesetzlich fixiert</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DFF0E6"/>
                    </a:solidFill>
                  </a:tcPr>
                </a:tc>
              </a:tr>
              <a:tr h="0">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Delegierter Rechtsakt kohlenstoffarme Kraftstoffe</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Methodik für „low carbon hydrogen“ nach Gasrichtlinie; relevant für Anrechnung in FR und für WasserstoffBG-Öffnung</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Juli 2025</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050" b="1" dirty="0">
                          <a:solidFill>
                            <a:srgbClr val="1E5F3A"/>
                          </a:solidFill>
                          <a:latin typeface="Calibri" pitchFamily="34" charset="0"/>
                          <a:ea typeface="Calibri" pitchFamily="34" charset="-122"/>
                          <a:cs typeface="Calibri" pitchFamily="34" charset="-120"/>
                        </a:rPr>
                        <a:t>umgesetzt</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DFF0E6"/>
                    </a:solidFill>
                  </a:tcPr>
                </a:tc>
              </a:tr>
              <a:tr h="0">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Revision der RFNBO-Kriterien</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AccelerateEU (Mai 2026): gezielte Überprüfung zwei Jahre vor Plan; erwartet: Verschiebung von Additionalität und Stundenkorrelation auf 2032/2033; Studie DG ENER/ICF Anfang 2026</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angekündigt Mitte 2026</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050" b="1" dirty="0">
                          <a:solidFill>
                            <a:srgbClr val="2C4C7A"/>
                          </a:solidFill>
                          <a:latin typeface="Calibri" pitchFamily="34" charset="0"/>
                          <a:ea typeface="Calibri" pitchFamily="34" charset="-122"/>
                          <a:cs typeface="Calibri" pitchFamily="34" charset="-120"/>
                        </a:rPr>
                        <a:t>in Verfahren</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E3ECF7"/>
                    </a:solidFill>
                  </a:tcPr>
                </a:tc>
              </a:tr>
              <a:tr h="0">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RED IV (Post-2030)</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Vorschlag der Kommission mit überarbeiteter Wasserstoffstrategie</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Q3 2026 angekündigt</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050" b="1" dirty="0">
                          <a:solidFill>
                            <a:srgbClr val="8E2B25"/>
                          </a:solidFill>
                          <a:latin typeface="Calibri" pitchFamily="34" charset="0"/>
                          <a:ea typeface="Calibri" pitchFamily="34" charset="-122"/>
                          <a:cs typeface="Calibri" pitchFamily="34" charset="-120"/>
                        </a:rPr>
                        <a:t>offen</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F8E0DD"/>
                    </a:solidFill>
                  </a:tcPr>
                </a:tc>
              </a:tr>
            </a:tbl>
          </a:graphicData>
        </a:graphic>
      </p:graphicFrame>
      <p:sp>
        <p:nvSpPr>
          <p:cNvPr id="7" name="Shape 4"/>
          <p:cNvSpPr/>
          <p:nvPr/>
        </p:nvSpPr>
        <p:spPr>
          <a:xfrm>
            <a:off x="457200" y="4709160"/>
            <a:ext cx="2139696" cy="502920"/>
          </a:xfrm>
          <a:prstGeom prst="roundRect">
            <a:avLst>
              <a:gd name="adj" fmla="val 18182"/>
            </a:avLst>
          </a:prstGeom>
          <a:solidFill>
            <a:srgbClr val="14595B"/>
          </a:solidFill>
          <a:ln w="12700">
            <a:solidFill>
              <a:srgbClr val="14595B"/>
            </a:solidFill>
            <a:prstDash val="solid"/>
          </a:ln>
        </p:spPr>
      </p:sp>
      <p:sp>
        <p:nvSpPr>
          <p:cNvPr id="8" name="Text 5"/>
          <p:cNvSpPr txBox="1"/>
          <p:nvPr/>
        </p:nvSpPr>
        <p:spPr>
          <a:xfrm>
            <a:off x="530352" y="470916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2023 · DelVO 1184/1185 in Kraft</a:t>
            </a:r>
            <a:endParaRPr lang="en-US" sz="950" dirty="0"/>
          </a:p>
        </p:txBody>
      </p:sp>
      <p:sp>
        <p:nvSpPr>
          <p:cNvPr id="9" name="Shape 6"/>
          <p:cNvSpPr/>
          <p:nvPr/>
        </p:nvSpPr>
        <p:spPr>
          <a:xfrm>
            <a:off x="2734056" y="4709160"/>
            <a:ext cx="2139696" cy="502920"/>
          </a:xfrm>
          <a:prstGeom prst="roundRect">
            <a:avLst>
              <a:gd name="adj" fmla="val 18182"/>
            </a:avLst>
          </a:prstGeom>
          <a:solidFill>
            <a:srgbClr val="14595B"/>
          </a:solidFill>
          <a:ln w="12700">
            <a:solidFill>
              <a:srgbClr val="14595B"/>
            </a:solidFill>
            <a:prstDash val="solid"/>
          </a:ln>
        </p:spPr>
      </p:sp>
      <p:sp>
        <p:nvSpPr>
          <p:cNvPr id="10" name="Text 7"/>
          <p:cNvSpPr txBox="1"/>
          <p:nvPr/>
        </p:nvSpPr>
        <p:spPr>
          <a:xfrm>
            <a:off x="2807208" y="470916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bis 2027 · Inbetriebnahme mit Bestandsschutz</a:t>
            </a:r>
            <a:endParaRPr lang="en-US" sz="950" dirty="0"/>
          </a:p>
        </p:txBody>
      </p:sp>
      <p:sp>
        <p:nvSpPr>
          <p:cNvPr id="11" name="Shape 8"/>
          <p:cNvSpPr/>
          <p:nvPr/>
        </p:nvSpPr>
        <p:spPr>
          <a:xfrm>
            <a:off x="5010912" y="4709160"/>
            <a:ext cx="2139696" cy="502920"/>
          </a:xfrm>
          <a:prstGeom prst="roundRect">
            <a:avLst>
              <a:gd name="adj" fmla="val 18182"/>
            </a:avLst>
          </a:prstGeom>
          <a:solidFill>
            <a:srgbClr val="14595B"/>
          </a:solidFill>
          <a:ln w="12700">
            <a:solidFill>
              <a:srgbClr val="14595B"/>
            </a:solidFill>
            <a:prstDash val="solid"/>
          </a:ln>
        </p:spPr>
      </p:sp>
      <p:sp>
        <p:nvSpPr>
          <p:cNvPr id="12" name="Text 9"/>
          <p:cNvSpPr txBox="1"/>
          <p:nvPr/>
        </p:nvSpPr>
        <p:spPr>
          <a:xfrm>
            <a:off x="5084064" y="470916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2029 · letztes Jahr Monatskorrelation</a:t>
            </a:r>
            <a:endParaRPr lang="en-US" sz="950" dirty="0"/>
          </a:p>
        </p:txBody>
      </p:sp>
      <p:sp>
        <p:nvSpPr>
          <p:cNvPr id="13" name="Shape 10"/>
          <p:cNvSpPr/>
          <p:nvPr/>
        </p:nvSpPr>
        <p:spPr>
          <a:xfrm>
            <a:off x="7287768" y="4709160"/>
            <a:ext cx="2139696" cy="502920"/>
          </a:xfrm>
          <a:prstGeom prst="roundRect">
            <a:avLst>
              <a:gd name="adj" fmla="val 18182"/>
            </a:avLst>
          </a:prstGeom>
          <a:solidFill>
            <a:srgbClr val="14595B"/>
          </a:solidFill>
          <a:ln w="12700">
            <a:solidFill>
              <a:srgbClr val="14595B"/>
            </a:solidFill>
            <a:prstDash val="solid"/>
          </a:ln>
        </p:spPr>
      </p:sp>
      <p:sp>
        <p:nvSpPr>
          <p:cNvPr id="14" name="Text 11"/>
          <p:cNvSpPr txBox="1"/>
          <p:nvPr/>
        </p:nvSpPr>
        <p:spPr>
          <a:xfrm>
            <a:off x="7360920" y="470916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2030 · Stundenkorrelation (ggf. 2032/33)</a:t>
            </a:r>
            <a:endParaRPr lang="en-US" sz="950" dirty="0"/>
          </a:p>
        </p:txBody>
      </p:sp>
      <p:sp>
        <p:nvSpPr>
          <p:cNvPr id="15" name="Shape 12"/>
          <p:cNvSpPr/>
          <p:nvPr/>
        </p:nvSpPr>
        <p:spPr>
          <a:xfrm>
            <a:off x="9564624" y="4709160"/>
            <a:ext cx="2139696" cy="502920"/>
          </a:xfrm>
          <a:prstGeom prst="roundRect">
            <a:avLst>
              <a:gd name="adj" fmla="val 18182"/>
            </a:avLst>
          </a:prstGeom>
          <a:solidFill>
            <a:srgbClr val="14595B"/>
          </a:solidFill>
          <a:ln w="12700">
            <a:solidFill>
              <a:srgbClr val="14595B"/>
            </a:solidFill>
            <a:prstDash val="solid"/>
          </a:ln>
        </p:spPr>
      </p:sp>
      <p:sp>
        <p:nvSpPr>
          <p:cNvPr id="16" name="Text 13"/>
          <p:cNvSpPr txBox="1"/>
          <p:nvPr/>
        </p:nvSpPr>
        <p:spPr>
          <a:xfrm>
            <a:off x="9637776" y="470916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2038 · Ende Bestandsschutz Additionalität</a:t>
            </a:r>
            <a:endParaRPr lang="en-US" sz="950" dirty="0"/>
          </a:p>
        </p:txBody>
      </p:sp>
      <p:sp>
        <p:nvSpPr>
          <p:cNvPr id="17" name="Text 14"/>
          <p:cNvSpPr txBox="1"/>
          <p:nvPr/>
        </p:nvSpPr>
        <p:spPr>
          <a:xfrm>
            <a:off x="457200" y="5349240"/>
            <a:ext cx="11247120" cy="548640"/>
          </a:xfrm>
          <a:prstGeom prst="rect">
            <a:avLst/>
          </a:prstGeom>
          <a:noFill/>
          <a:ln/>
        </p:spPr>
        <p:txBody>
          <a:bodyPr wrap="square" lIns="0" tIns="0" rIns="0" bIns="0" rtlCol="0" anchor="ctr"/>
          <a:lstStyle/>
          <a:p>
            <a:pPr indent="0" marL="0">
              <a:buNone/>
            </a:pPr>
            <a:r>
              <a:rPr lang="en-US" sz="1050" i="1" dirty="0">
                <a:solidFill>
                  <a:srgbClr val="8E2B25"/>
                </a:solidFill>
                <a:latin typeface="Calibri" pitchFamily="34" charset="0"/>
                <a:ea typeface="Calibri" pitchFamily="34" charset="-122"/>
                <a:cs typeface="Calibri" pitchFamily="34" charset="-120"/>
              </a:rPr>
              <a:t>Hinweis: Ob der revidierte delegierte Rechtsakt zum Rechtsstand 8.9.2026 bereits angenommen oder im Amtsblatt veröffentlicht ist, konnte nicht abschließend verifiziert werden; vor Verwendung prüfen.</a:t>
            </a:r>
            <a:endParaRPr lang="en-US" sz="1050" dirty="0"/>
          </a:p>
        </p:txBody>
      </p:sp>
      <p:sp>
        <p:nvSpPr>
          <p:cNvPr id="18" name="Text 15"/>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Quellen: DelVO (EU) 2023/1184 und 2023/1185 (ABl. L 157/11 und /20, 20.6.2023); EDF Europe 7.1.2026; Hydrogen Europe, Beitrag zur ICF-Studie (Februar 2026); King &amp; Spalding; Capstone DC; BDEW Positionspapier Strombezugskriterien; Stibbe 2026.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2E33"/>
        </a:solidFill>
      </p:bgPr>
    </p:bg>
    <p:spTree>
      <p:nvGrpSpPr>
        <p:cNvPr id="1" name=""/>
        <p:cNvGrpSpPr/>
        <p:nvPr/>
      </p:nvGrpSpPr>
      <p:grpSpPr>
        <a:xfrm>
          <a:off x="0" y="0"/>
          <a:ext cx="0" cy="0"/>
          <a:chOff x="0" y="0"/>
          <a:chExt cx="0" cy="0"/>
        </a:xfrm>
      </p:grpSpPr>
      <p:sp>
        <p:nvSpPr>
          <p:cNvPr id="2" name="Text 0"/>
          <p:cNvSpPr txBox="1"/>
          <p:nvPr/>
        </p:nvSpPr>
        <p:spPr>
          <a:xfrm>
            <a:off x="731520" y="2377440"/>
            <a:ext cx="10515600" cy="10972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Vertiefung Biogas und Biomethan</a:t>
            </a:r>
            <a:endParaRPr lang="en-US" sz="4000" dirty="0"/>
          </a:p>
        </p:txBody>
      </p:sp>
      <p:sp>
        <p:nvSpPr>
          <p:cNvPr id="3" name="Text 1"/>
          <p:cNvSpPr txBox="1"/>
          <p:nvPr/>
        </p:nvSpPr>
        <p:spPr>
          <a:xfrm>
            <a:off x="731520" y="3474720"/>
            <a:ext cx="10515600" cy="731520"/>
          </a:xfrm>
          <a:prstGeom prst="rect">
            <a:avLst/>
          </a:prstGeom>
          <a:noFill/>
          <a:ln/>
        </p:spPr>
        <p:txBody>
          <a:bodyPr wrap="square" lIns="0" tIns="0" rIns="0" bIns="0" rtlCol="0" anchor="ctr"/>
          <a:lstStyle/>
          <a:p>
            <a:pPr indent="0" marL="0">
              <a:buNone/>
            </a:pPr>
            <a:r>
              <a:rPr lang="en-US" sz="1600" dirty="0">
                <a:solidFill>
                  <a:srgbClr val="BFD9D9"/>
                </a:solidFill>
                <a:latin typeface="Calibri" pitchFamily="34" charset="0"/>
                <a:ea typeface="Calibri" pitchFamily="34" charset="-122"/>
                <a:cs typeface="Calibri" pitchFamily="34" charset="-120"/>
              </a:rPr>
              <a:t>Art. 3 Abs. 3, 29 bis 31a RED III · BioSt-NachV · Biokraft-NachV · Unionsdatenbank</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17</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100" b="1" spc="200" kern="0" dirty="0">
                <a:solidFill>
                  <a:srgbClr val="14595B"/>
                </a:solidFill>
                <a:latin typeface="Calibri" pitchFamily="34" charset="0"/>
                <a:ea typeface="Calibri" pitchFamily="34" charset="-122"/>
                <a:cs typeface="Calibri" pitchFamily="34" charset="-120"/>
              </a:rPr>
              <a:t>BIOGAS UND BIOMETHAN</a:t>
            </a:r>
            <a:endParaRPr lang="en-US" sz="1100" dirty="0"/>
          </a:p>
        </p:txBody>
      </p:sp>
      <p:sp>
        <p:nvSpPr>
          <p:cNvPr id="5" name="Text 3"/>
          <p:cNvSpPr txBox="1"/>
          <p:nvPr/>
        </p:nvSpPr>
        <p:spPr>
          <a:xfrm>
            <a:off x="457200" y="530352"/>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Was RED III für Biogas und Biomethan verlangt</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2103120"/>
                <a:gridCol w="4846320"/>
                <a:gridCol w="429768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Anforderung</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RED III</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Wirkung für Anlagen in Deutschland</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r>
              <a:tr h="0">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Anwendungsschwellen</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Strom/Wärme aus fester Biomasse ab 7,5 MW; gasförmige Biomasse ab 2 MW; Biomethan ab 200 m³/h (Art. 29 Abs. 1)</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Deutlich mehr Biogasanlagen und praktisch alle Biomethan-Einspeiser nachweispflichtig</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THG-Minderung Neuanlagen</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80 % für Anlagen mit Inbetriebnahme nach 20.11.2023; 70 % (bis 2029) und 80 % (ab 2030) für Inbetriebnahme 2021 bis 2023 (Art. 29 Abs. 10)</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Individuelle THG-Bilanz statt Standardwerte; Standardwerte in Anhang VI decken viele Substrate nicht ab</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THG-Minderung Bestandsanlagen</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Anlagen vor 2021: 80 % nach 15 Betriebsjahren; Übergangsoption Art. 29 Abs. 15: RED-II-Kriterien bis 31.12.2030</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Deutschland nutzt die Übergangsoption; erste Nachweispflichten für Anlagen ab Baujahr 2011 im Jahr 2026</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Kaskadenprinzip</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Keine Förderung für Stromerzeugung aus Industrierundholz, Stubben, Wurzeln (Art. 3 Abs. 3)</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Verlust der EEG-Förderfähigkeit für diese Sortimente</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Waldbiomasse</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Herkunftsnachweise auf Ebene Beschaffungsgebiet, „No-go-Areas“ (Art. 29 Abs. 6 und 7)</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Erweiterte Zertifizierungsanforderungen (SURE, ISCC, REDcert)</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Nachweis und Datenbank</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Massenbilanz, freiwillige Systeme, Unionsdatenbank auch für gasförmige Brennstoffe (Art. 30, 31a)</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50" dirty="0">
                          <a:solidFill>
                            <a:srgbClr val="1F2A2C"/>
                          </a:solidFill>
                          <a:latin typeface="Calibri" pitchFamily="34" charset="0"/>
                          <a:ea typeface="Calibri" pitchFamily="34" charset="-122"/>
                          <a:cs typeface="Calibri" pitchFamily="34" charset="-120"/>
                        </a:rPr>
                        <a:t>Nabisy bleibt, Anbindung an UDB Pflicht</a:t>
                      </a:r>
                      <a:endParaRPr lang="en-US" sz="11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bl>
          </a:graphicData>
        </a:graphic>
      </p:graphicFrame>
      <p:sp>
        <p:nvSpPr>
          <p:cNvPr id="7" name="Text 4"/>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Quellen: Richtlinie (EU) 2023/2413, Art. 3, 29, 30, 31a, Anhang VI; C.A.R.M.E.N. e. V. (THG-Einsparung Bestandsanlagen); OmniCert (THG-Pflicht Bestandsanlagen); Gallehr + Partner (Biomasse in der RED III); dena, „Auswirkungen der RED III auf den Biomethanmarkt“ (2024).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18</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100" b="1" spc="200" kern="0" dirty="0">
                <a:solidFill>
                  <a:srgbClr val="14595B"/>
                </a:solidFill>
                <a:latin typeface="Calibri" pitchFamily="34" charset="0"/>
                <a:ea typeface="Calibri" pitchFamily="34" charset="-122"/>
                <a:cs typeface="Calibri" pitchFamily="34" charset="-120"/>
              </a:rPr>
              <a:t>BIOGAS UND BIOMETHAN</a:t>
            </a:r>
            <a:endParaRPr lang="en-US" sz="1100" dirty="0"/>
          </a:p>
        </p:txBody>
      </p:sp>
      <p:sp>
        <p:nvSpPr>
          <p:cNvPr id="5" name="Text 3"/>
          <p:cNvSpPr txBox="1"/>
          <p:nvPr/>
        </p:nvSpPr>
        <p:spPr>
          <a:xfrm>
            <a:off x="457200" y="530352"/>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BioSt-NachV und Biokraft-NachV: Neufassung im Verfahren</a:t>
            </a:r>
            <a:endParaRPr lang="en-US" sz="2600" dirty="0"/>
          </a:p>
        </p:txBody>
      </p:sp>
      <p:sp>
        <p:nvSpPr>
          <p:cNvPr id="6" name="Text 4"/>
          <p:cNvSpPr txBox="1"/>
          <p:nvPr/>
        </p:nvSpPr>
        <p:spPr>
          <a:xfrm>
            <a:off x="457200" y="1280160"/>
            <a:ext cx="6766560" cy="45720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A2C"/>
                </a:solidFill>
                <a:latin typeface="Calibri" pitchFamily="34" charset="0"/>
                <a:ea typeface="Calibri" pitchFamily="34" charset="-122"/>
                <a:cs typeface="Calibri" pitchFamily="34" charset="-120"/>
              </a:rPr>
              <a:t>Verordnung der Bundesregierung (BMUKN federführend) zur Neufassung beider Nachhaltigkeitsverordnungen und Änderung der Gebührenverordnung BMEL; Zweck: Umsetzung der Art. 29 bis 31a RED III</a:t>
            </a:r>
            <a:endParaRPr lang="en-US" sz="1200" dirty="0"/>
          </a:p>
          <a:p>
            <a:pPr marL="177800" indent="-177800">
              <a:spcAft>
                <a:spcPts val="600"/>
              </a:spcAft>
              <a:buSzPct val="100000"/>
              <a:buChar char="•"/>
            </a:pPr>
            <a:r>
              <a:rPr lang="en-US" sz="1200" dirty="0">
                <a:solidFill>
                  <a:srgbClr val="1F2A2C"/>
                </a:solidFill>
                <a:latin typeface="Calibri" pitchFamily="34" charset="0"/>
                <a:ea typeface="Calibri" pitchFamily="34" charset="-122"/>
                <a:cs typeface="Calibri" pitchFamily="34" charset="-120"/>
              </a:rPr>
              <a:t>Ausweitung des Anwendungsbereichs von flüssigen auf gasförmige und feste Bioenergieträger; Übernahme der neuen Schwellen und THG-Werte</a:t>
            </a:r>
            <a:endParaRPr lang="en-US" sz="1200" dirty="0"/>
          </a:p>
          <a:p>
            <a:pPr marL="177800" indent="-177800">
              <a:spcAft>
                <a:spcPts val="600"/>
              </a:spcAft>
              <a:buSzPct val="100000"/>
              <a:buChar char="•"/>
            </a:pPr>
            <a:r>
              <a:rPr lang="en-US" sz="1200" dirty="0">
                <a:solidFill>
                  <a:srgbClr val="1F2A2C"/>
                </a:solidFill>
                <a:latin typeface="Calibri" pitchFamily="34" charset="0"/>
                <a:ea typeface="Calibri" pitchFamily="34" charset="-122"/>
                <a:cs typeface="Calibri" pitchFamily="34" charset="-120"/>
              </a:rPr>
              <a:t>Bestandsschutz: RED-II-Kriterien für Bestandsanlagen bis 31.12.2030 (Art. 29 Abs. 15); Nachweisvorlage künftig jährlich statt vierteljährlich, Frist zwei Monate</a:t>
            </a:r>
            <a:endParaRPr lang="en-US" sz="1200" dirty="0"/>
          </a:p>
          <a:p>
            <a:pPr marL="177800" indent="-177800">
              <a:spcAft>
                <a:spcPts val="600"/>
              </a:spcAft>
              <a:buSzPct val="100000"/>
              <a:buChar char="•"/>
            </a:pPr>
            <a:r>
              <a:rPr lang="en-US" sz="1200" dirty="0">
                <a:solidFill>
                  <a:srgbClr val="1F2A2C"/>
                </a:solidFill>
                <a:latin typeface="Calibri" pitchFamily="34" charset="0"/>
                <a:ea typeface="Calibri" pitchFamily="34" charset="-122"/>
                <a:cs typeface="Calibri" pitchFamily="34" charset="-120"/>
              </a:rPr>
              <a:t>Kaskadenprinzip: Industrierundholz und Stubben verlieren die EEG-Förderung; erweiterter Bußgeldkatalog (unberechtigte Nachweise, Verstöße gegen Mitwirkungspflichten)</a:t>
            </a:r>
            <a:endParaRPr lang="en-US" sz="1200" dirty="0"/>
          </a:p>
          <a:p>
            <a:pPr marL="177800" indent="-177800">
              <a:spcAft>
                <a:spcPts val="600"/>
              </a:spcAft>
              <a:buSzPct val="100000"/>
              <a:buChar char="•"/>
            </a:pPr>
            <a:r>
              <a:rPr lang="en-US" sz="1200" dirty="0">
                <a:solidFill>
                  <a:srgbClr val="1F2A2C"/>
                </a:solidFill>
                <a:latin typeface="Calibri" pitchFamily="34" charset="0"/>
                <a:ea typeface="Calibri" pitchFamily="34" charset="-122"/>
                <a:cs typeface="Calibri" pitchFamily="34" charset="-120"/>
              </a:rPr>
              <a:t>Verfahren: Referentenentwurf 2025 · Kabinettsbeschluss Frühjahr 2026 · Bundesratsbefassung ab Mai 2026 (Stellungnahmen der Verbände 29.5.2026) · Inkrafttreten voraussichtlich 2. Halbjahr 2026 oder 1.1.2027</a:t>
            </a:r>
            <a:endParaRPr lang="en-US" sz="1200" dirty="0"/>
          </a:p>
        </p:txBody>
      </p:sp>
      <p:sp>
        <p:nvSpPr>
          <p:cNvPr id="7" name="Shape 5"/>
          <p:cNvSpPr/>
          <p:nvPr/>
        </p:nvSpPr>
        <p:spPr>
          <a:xfrm>
            <a:off x="7498080" y="1280160"/>
            <a:ext cx="4206240" cy="1737360"/>
          </a:xfrm>
          <a:prstGeom prst="roundRect">
            <a:avLst>
              <a:gd name="adj" fmla="val 6316"/>
            </a:avLst>
          </a:prstGeom>
          <a:solidFill>
            <a:srgbClr val="E3ECF7"/>
          </a:solidFill>
          <a:ln w="12700">
            <a:solidFill>
              <a:srgbClr val="E3ECF7"/>
            </a:solidFill>
            <a:prstDash val="solid"/>
          </a:ln>
        </p:spPr>
      </p:sp>
      <p:sp>
        <p:nvSpPr>
          <p:cNvPr id="8" name="Text 6"/>
          <p:cNvSpPr txBox="1"/>
          <p:nvPr/>
        </p:nvSpPr>
        <p:spPr>
          <a:xfrm>
            <a:off x="7680960" y="1389888"/>
            <a:ext cx="384048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Status</a:t>
            </a:r>
            <a:endParaRPr lang="en-US" sz="1500" dirty="0"/>
          </a:p>
        </p:txBody>
      </p:sp>
      <p:sp>
        <p:nvSpPr>
          <p:cNvPr id="9" name="Text 7"/>
          <p:cNvSpPr txBox="1"/>
          <p:nvPr/>
        </p:nvSpPr>
        <p:spPr>
          <a:xfrm>
            <a:off x="7680960" y="1783080"/>
            <a:ext cx="3840480" cy="114300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Frist RED III: 21.5.2025</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Verkündung im BGBl. zum 8.9.2026 nicht verifiziert</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Bis dahin gilt BioSt-NachV 2021 mit Übergangsregeln</a:t>
            </a:r>
            <a:endParaRPr lang="en-US" sz="1050" dirty="0"/>
          </a:p>
        </p:txBody>
      </p:sp>
      <p:sp>
        <p:nvSpPr>
          <p:cNvPr id="10" name="Shape 8"/>
          <p:cNvSpPr/>
          <p:nvPr/>
        </p:nvSpPr>
        <p:spPr>
          <a:xfrm>
            <a:off x="7498080" y="3200400"/>
            <a:ext cx="4206240" cy="1737360"/>
          </a:xfrm>
          <a:prstGeom prst="roundRect">
            <a:avLst>
              <a:gd name="adj" fmla="val 6316"/>
            </a:avLst>
          </a:prstGeom>
          <a:solidFill>
            <a:srgbClr val="E4EFEF"/>
          </a:solidFill>
          <a:ln w="12700">
            <a:solidFill>
              <a:srgbClr val="E4EFEF"/>
            </a:solidFill>
            <a:prstDash val="solid"/>
          </a:ln>
        </p:spPr>
      </p:sp>
      <p:sp>
        <p:nvSpPr>
          <p:cNvPr id="11" name="Text 9"/>
          <p:cNvSpPr txBox="1"/>
          <p:nvPr/>
        </p:nvSpPr>
        <p:spPr>
          <a:xfrm>
            <a:off x="7680960" y="3310128"/>
            <a:ext cx="384048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Praxisfolgen 2026</a:t>
            </a:r>
            <a:endParaRPr lang="en-US" sz="1500" dirty="0"/>
          </a:p>
        </p:txBody>
      </p:sp>
      <p:sp>
        <p:nvSpPr>
          <p:cNvPr id="12" name="Text 10"/>
          <p:cNvSpPr txBox="1"/>
          <p:nvPr/>
        </p:nvSpPr>
        <p:spPr>
          <a:xfrm>
            <a:off x="7680960" y="3703320"/>
            <a:ext cx="3840480" cy="114300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THG-Bilanzierung für Anlagen ab Baujahr 2011 startet</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Auditkapazitäten der Zertifizierungssysteme knapp</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Fehlende Standardwerte erhöhen Aufwand</a:t>
            </a:r>
            <a:endParaRPr lang="en-US" sz="1050" dirty="0"/>
          </a:p>
        </p:txBody>
      </p:sp>
      <p:sp>
        <p:nvSpPr>
          <p:cNvPr id="13" name="Shape 11"/>
          <p:cNvSpPr/>
          <p:nvPr/>
        </p:nvSpPr>
        <p:spPr>
          <a:xfrm>
            <a:off x="457200" y="5257800"/>
            <a:ext cx="2139696" cy="502920"/>
          </a:xfrm>
          <a:prstGeom prst="roundRect">
            <a:avLst>
              <a:gd name="adj" fmla="val 18182"/>
            </a:avLst>
          </a:prstGeom>
          <a:solidFill>
            <a:srgbClr val="2C4C7A"/>
          </a:solidFill>
          <a:ln w="12700">
            <a:solidFill>
              <a:srgbClr val="2C4C7A"/>
            </a:solidFill>
            <a:prstDash val="solid"/>
          </a:ln>
        </p:spPr>
      </p:sp>
      <p:sp>
        <p:nvSpPr>
          <p:cNvPr id="14" name="Text 12"/>
          <p:cNvSpPr txBox="1"/>
          <p:nvPr/>
        </p:nvSpPr>
        <p:spPr>
          <a:xfrm>
            <a:off x="530352" y="525780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21.5.2025 · EU-Frist</a:t>
            </a:r>
            <a:endParaRPr lang="en-US" sz="950" dirty="0"/>
          </a:p>
        </p:txBody>
      </p:sp>
      <p:sp>
        <p:nvSpPr>
          <p:cNvPr id="15" name="Shape 13"/>
          <p:cNvSpPr/>
          <p:nvPr/>
        </p:nvSpPr>
        <p:spPr>
          <a:xfrm>
            <a:off x="2734056" y="5257800"/>
            <a:ext cx="2139696" cy="502920"/>
          </a:xfrm>
          <a:prstGeom prst="roundRect">
            <a:avLst>
              <a:gd name="adj" fmla="val 18182"/>
            </a:avLst>
          </a:prstGeom>
          <a:solidFill>
            <a:srgbClr val="2C4C7A"/>
          </a:solidFill>
          <a:ln w="12700">
            <a:solidFill>
              <a:srgbClr val="2C4C7A"/>
            </a:solidFill>
            <a:prstDash val="solid"/>
          </a:ln>
        </p:spPr>
      </p:sp>
      <p:sp>
        <p:nvSpPr>
          <p:cNvPr id="16" name="Text 14"/>
          <p:cNvSpPr txBox="1"/>
          <p:nvPr/>
        </p:nvSpPr>
        <p:spPr>
          <a:xfrm>
            <a:off x="2807208" y="525780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2025 · Referentenentwurf BMUKN</a:t>
            </a:r>
            <a:endParaRPr lang="en-US" sz="950" dirty="0"/>
          </a:p>
        </p:txBody>
      </p:sp>
      <p:sp>
        <p:nvSpPr>
          <p:cNvPr id="17" name="Shape 15"/>
          <p:cNvSpPr/>
          <p:nvPr/>
        </p:nvSpPr>
        <p:spPr>
          <a:xfrm>
            <a:off x="5010912" y="5257800"/>
            <a:ext cx="2139696" cy="502920"/>
          </a:xfrm>
          <a:prstGeom prst="roundRect">
            <a:avLst>
              <a:gd name="adj" fmla="val 18182"/>
            </a:avLst>
          </a:prstGeom>
          <a:solidFill>
            <a:srgbClr val="2C4C7A"/>
          </a:solidFill>
          <a:ln w="12700">
            <a:solidFill>
              <a:srgbClr val="2C4C7A"/>
            </a:solidFill>
            <a:prstDash val="solid"/>
          </a:ln>
        </p:spPr>
      </p:sp>
      <p:sp>
        <p:nvSpPr>
          <p:cNvPr id="18" name="Text 16"/>
          <p:cNvSpPr txBox="1"/>
          <p:nvPr/>
        </p:nvSpPr>
        <p:spPr>
          <a:xfrm>
            <a:off x="5084064" y="525780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Frühjahr 2026 · Kabinett</a:t>
            </a:r>
            <a:endParaRPr lang="en-US" sz="950" dirty="0"/>
          </a:p>
        </p:txBody>
      </p:sp>
      <p:sp>
        <p:nvSpPr>
          <p:cNvPr id="19" name="Shape 17"/>
          <p:cNvSpPr/>
          <p:nvPr/>
        </p:nvSpPr>
        <p:spPr>
          <a:xfrm>
            <a:off x="7287768" y="5257800"/>
            <a:ext cx="2139696" cy="502920"/>
          </a:xfrm>
          <a:prstGeom prst="roundRect">
            <a:avLst>
              <a:gd name="adj" fmla="val 18182"/>
            </a:avLst>
          </a:prstGeom>
          <a:solidFill>
            <a:srgbClr val="2C4C7A"/>
          </a:solidFill>
          <a:ln w="12700">
            <a:solidFill>
              <a:srgbClr val="2C4C7A"/>
            </a:solidFill>
            <a:prstDash val="solid"/>
          </a:ln>
        </p:spPr>
      </p:sp>
      <p:sp>
        <p:nvSpPr>
          <p:cNvPr id="20" name="Text 18"/>
          <p:cNvSpPr txBox="1"/>
          <p:nvPr/>
        </p:nvSpPr>
        <p:spPr>
          <a:xfrm>
            <a:off x="7360920" y="525780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Mai/Juni 2026 · Bundesrat</a:t>
            </a:r>
            <a:endParaRPr lang="en-US" sz="950" dirty="0"/>
          </a:p>
        </p:txBody>
      </p:sp>
      <p:sp>
        <p:nvSpPr>
          <p:cNvPr id="21" name="Shape 19"/>
          <p:cNvSpPr/>
          <p:nvPr/>
        </p:nvSpPr>
        <p:spPr>
          <a:xfrm>
            <a:off x="9564624" y="5257800"/>
            <a:ext cx="2139696" cy="502920"/>
          </a:xfrm>
          <a:prstGeom prst="roundRect">
            <a:avLst>
              <a:gd name="adj" fmla="val 18182"/>
            </a:avLst>
          </a:prstGeom>
          <a:solidFill>
            <a:srgbClr val="2C4C7A"/>
          </a:solidFill>
          <a:ln w="12700">
            <a:solidFill>
              <a:srgbClr val="2C4C7A"/>
            </a:solidFill>
            <a:prstDash val="solid"/>
          </a:ln>
        </p:spPr>
      </p:sp>
      <p:sp>
        <p:nvSpPr>
          <p:cNvPr id="22" name="Text 20"/>
          <p:cNvSpPr txBox="1"/>
          <p:nvPr/>
        </p:nvSpPr>
        <p:spPr>
          <a:xfrm>
            <a:off x="9637776" y="5257800"/>
            <a:ext cx="1993392"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Hj. 2026 / 1.1.2027 · Inkrafttreten (erwartet)</a:t>
            </a:r>
            <a:endParaRPr lang="en-US" sz="950" dirty="0"/>
          </a:p>
        </p:txBody>
      </p:sp>
      <p:sp>
        <p:nvSpPr>
          <p:cNvPr id="23" name="Text 21"/>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Quellen: BMUKN, Verordnungsverfahren „Neufassung BioSt-NachV und Biokraft-NachV“ (Gläserne Gesetze 21. WP); EMA Energiewelt (Biomasseverordnung 2026); GfBU-Consult (Fristverlängerung BioSt-NachV); Bundesverband Bioenergie, Stellungnahme 29.5.2026; Lobbyregister Bundestag.</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19</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100" b="1" spc="200" kern="0" dirty="0">
                <a:solidFill>
                  <a:srgbClr val="14595B"/>
                </a:solidFill>
                <a:latin typeface="Calibri" pitchFamily="34" charset="0"/>
                <a:ea typeface="Calibri" pitchFamily="34" charset="-122"/>
                <a:cs typeface="Calibri" pitchFamily="34" charset="-120"/>
              </a:rPr>
              <a:t>BIOGAS UND BIOMETHAN</a:t>
            </a:r>
            <a:endParaRPr lang="en-US" sz="1100" dirty="0"/>
          </a:p>
        </p:txBody>
      </p:sp>
      <p:sp>
        <p:nvSpPr>
          <p:cNvPr id="5" name="Text 3"/>
          <p:cNvSpPr txBox="1"/>
          <p:nvPr/>
        </p:nvSpPr>
        <p:spPr>
          <a:xfrm>
            <a:off x="457200" y="530352"/>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Biomethan: Unionsdatenbank, Kraftstoffmarkt, EEG-Rahmen</a:t>
            </a:r>
            <a:endParaRPr lang="en-US" sz="2600" dirty="0"/>
          </a:p>
        </p:txBody>
      </p:sp>
      <p:sp>
        <p:nvSpPr>
          <p:cNvPr id="6" name="Shape 4"/>
          <p:cNvSpPr/>
          <p:nvPr/>
        </p:nvSpPr>
        <p:spPr>
          <a:xfrm>
            <a:off x="457200" y="1280160"/>
            <a:ext cx="3657600" cy="3566160"/>
          </a:xfrm>
          <a:prstGeom prst="roundRect">
            <a:avLst>
              <a:gd name="adj" fmla="val 3077"/>
            </a:avLst>
          </a:prstGeom>
          <a:solidFill>
            <a:srgbClr val="E4EFEF"/>
          </a:solidFill>
          <a:ln w="12700">
            <a:solidFill>
              <a:srgbClr val="E4EFEF"/>
            </a:solidFill>
            <a:prstDash val="solid"/>
          </a:ln>
        </p:spPr>
      </p:sp>
      <p:sp>
        <p:nvSpPr>
          <p:cNvPr id="7" name="Text 5"/>
          <p:cNvSpPr txBox="1"/>
          <p:nvPr/>
        </p:nvSpPr>
        <p:spPr>
          <a:xfrm>
            <a:off x="640080" y="1389888"/>
            <a:ext cx="329184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Unionsdatenbank (Art. 31a)</a:t>
            </a:r>
            <a:endParaRPr lang="en-US" sz="1500" dirty="0"/>
          </a:p>
        </p:txBody>
      </p:sp>
      <p:sp>
        <p:nvSpPr>
          <p:cNvPr id="8" name="Text 6"/>
          <p:cNvSpPr txBox="1"/>
          <p:nvPr/>
        </p:nvSpPr>
        <p:spPr>
          <a:xfrm>
            <a:off x="640080" y="1783080"/>
            <a:ext cx="3291840" cy="297180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Rückverfolgung aller flüssigen und gasförmigen erneuerbaren Kraftstoffe von der Rohstoffquelle bis zum Endverbrauch</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Start für gasförmige Brennstoffe auf Ende 2026 verschoben; nationale Systeme wie Nabisy bleiben, müssen aber angebunden sein</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Betroffen künftig auch Biogasanlagen und Landwirte, nicht nur Einspeiser; Bundestag WD-Ausarbeitung 2026 zu Rechtsgrundlagen</a:t>
            </a:r>
            <a:endParaRPr lang="en-US" sz="1050" dirty="0"/>
          </a:p>
        </p:txBody>
      </p:sp>
      <p:sp>
        <p:nvSpPr>
          <p:cNvPr id="9" name="Shape 7"/>
          <p:cNvSpPr/>
          <p:nvPr/>
        </p:nvSpPr>
        <p:spPr>
          <a:xfrm>
            <a:off x="4251960" y="1280160"/>
            <a:ext cx="3657600" cy="3566160"/>
          </a:xfrm>
          <a:prstGeom prst="roundRect">
            <a:avLst>
              <a:gd name="adj" fmla="val 3077"/>
            </a:avLst>
          </a:prstGeom>
          <a:solidFill>
            <a:srgbClr val="E4EFEF"/>
          </a:solidFill>
          <a:ln w="12700">
            <a:solidFill>
              <a:srgbClr val="E4EFEF"/>
            </a:solidFill>
            <a:prstDash val="solid"/>
          </a:ln>
        </p:spPr>
      </p:sp>
      <p:sp>
        <p:nvSpPr>
          <p:cNvPr id="10" name="Text 8"/>
          <p:cNvSpPr txBox="1"/>
          <p:nvPr/>
        </p:nvSpPr>
        <p:spPr>
          <a:xfrm>
            <a:off x="4434840" y="1389888"/>
            <a:ext cx="329184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Biomethan als Kraftstoff</a:t>
            </a:r>
            <a:endParaRPr lang="en-US" sz="1500" dirty="0"/>
          </a:p>
        </p:txBody>
      </p:sp>
      <p:sp>
        <p:nvSpPr>
          <p:cNvPr id="11" name="Text 9"/>
          <p:cNvSpPr txBox="1"/>
          <p:nvPr/>
        </p:nvSpPr>
        <p:spPr>
          <a:xfrm>
            <a:off x="4434840" y="1783080"/>
            <a:ext cx="3291840" cy="297180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Anrechnung auf die THG-Quote; Doppelanrechnung für Abfall- und Reststoffbiomethan endet 2026/2027</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Ladestrom aus Biogas ab 2028 anrechenbar (neu im THG-Quote-Gesetz)</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Vor-Ort-Kontrollen als Anrechnungsvoraussetzung; Fachverband Biogas fordert Nachbesserungen</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dena: Nachfrage aus Verkehr und Industrie verschiebt Biomethan weg von der Stromerzeugung</a:t>
            </a:r>
            <a:endParaRPr lang="en-US" sz="1050" dirty="0"/>
          </a:p>
        </p:txBody>
      </p:sp>
      <p:sp>
        <p:nvSpPr>
          <p:cNvPr id="12" name="Shape 10"/>
          <p:cNvSpPr/>
          <p:nvPr/>
        </p:nvSpPr>
        <p:spPr>
          <a:xfrm>
            <a:off x="8046720" y="1280160"/>
            <a:ext cx="3657600" cy="3566160"/>
          </a:xfrm>
          <a:prstGeom prst="roundRect">
            <a:avLst>
              <a:gd name="adj" fmla="val 3077"/>
            </a:avLst>
          </a:prstGeom>
          <a:solidFill>
            <a:srgbClr val="E4EFEF"/>
          </a:solidFill>
          <a:ln w="12700">
            <a:solidFill>
              <a:srgbClr val="E4EFEF"/>
            </a:solidFill>
            <a:prstDash val="solid"/>
          </a:ln>
        </p:spPr>
      </p:sp>
      <p:sp>
        <p:nvSpPr>
          <p:cNvPr id="13" name="Text 11"/>
          <p:cNvSpPr txBox="1"/>
          <p:nvPr/>
        </p:nvSpPr>
        <p:spPr>
          <a:xfrm>
            <a:off x="8229600" y="1389888"/>
            <a:ext cx="329184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EEG-Biomassepaket (2025)</a:t>
            </a:r>
            <a:endParaRPr lang="en-US" sz="1500" dirty="0"/>
          </a:p>
        </p:txBody>
      </p:sp>
      <p:sp>
        <p:nvSpPr>
          <p:cNvPr id="14" name="Text 12"/>
          <p:cNvSpPr txBox="1"/>
          <p:nvPr/>
        </p:nvSpPr>
        <p:spPr>
          <a:xfrm>
            <a:off x="8229600" y="1783080"/>
            <a:ext cx="3291840" cy="297180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BGBl. 24.2.2025; Bundestag 31.1.2025; beihilferechtlich genehmigt</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Ausschreibungsmengen 1.300 MW (2025), 1.126 MW (2026); Flexzuschlag 100 €/kW</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Maisdeckel 30 % (2025), 25 % (2026); Anschlussförderung Bestand 12 Jahre</a:t>
            </a:r>
            <a:endParaRPr lang="en-US" sz="1050" dirty="0"/>
          </a:p>
          <a:p>
            <a:pPr marL="152400" indent="-152400">
              <a:spcAft>
                <a:spcPts val="400"/>
              </a:spcAft>
              <a:buSzPct val="100000"/>
              <a:buChar char="•"/>
            </a:pPr>
            <a:r>
              <a:rPr lang="en-US" sz="1050" dirty="0">
                <a:solidFill>
                  <a:srgbClr val="1F2A2C"/>
                </a:solidFill>
                <a:latin typeface="Calibri" pitchFamily="34" charset="0"/>
                <a:ea typeface="Calibri" pitchFamily="34" charset="-122"/>
                <a:cs typeface="Calibri" pitchFamily="34" charset="-120"/>
              </a:rPr>
              <a:t>Kein RED-III-Umsetzungsakt, aber Rahmen für rund 10.000 Bestandsanlagen</a:t>
            </a:r>
            <a:endParaRPr lang="en-US" sz="1050" dirty="0"/>
          </a:p>
        </p:txBody>
      </p:sp>
      <p:sp>
        <p:nvSpPr>
          <p:cNvPr id="15" name="Shape 13"/>
          <p:cNvSpPr/>
          <p:nvPr/>
        </p:nvSpPr>
        <p:spPr>
          <a:xfrm>
            <a:off x="457200" y="5120640"/>
            <a:ext cx="1760220" cy="502920"/>
          </a:xfrm>
          <a:prstGeom prst="roundRect">
            <a:avLst>
              <a:gd name="adj" fmla="val 18182"/>
            </a:avLst>
          </a:prstGeom>
          <a:solidFill>
            <a:srgbClr val="14595B"/>
          </a:solidFill>
          <a:ln w="12700">
            <a:solidFill>
              <a:srgbClr val="14595B"/>
            </a:solidFill>
            <a:prstDash val="solid"/>
          </a:ln>
        </p:spPr>
      </p:sp>
      <p:sp>
        <p:nvSpPr>
          <p:cNvPr id="16" name="Text 14"/>
          <p:cNvSpPr txBox="1"/>
          <p:nvPr/>
        </p:nvSpPr>
        <p:spPr>
          <a:xfrm>
            <a:off x="530352" y="5120640"/>
            <a:ext cx="161391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24.2.2025 · Biomassepaket in Kraft</a:t>
            </a:r>
            <a:endParaRPr lang="en-US" sz="950" dirty="0"/>
          </a:p>
        </p:txBody>
      </p:sp>
      <p:sp>
        <p:nvSpPr>
          <p:cNvPr id="17" name="Shape 15"/>
          <p:cNvSpPr/>
          <p:nvPr/>
        </p:nvSpPr>
        <p:spPr>
          <a:xfrm>
            <a:off x="2354580" y="5120640"/>
            <a:ext cx="1760220" cy="502920"/>
          </a:xfrm>
          <a:prstGeom prst="roundRect">
            <a:avLst>
              <a:gd name="adj" fmla="val 18182"/>
            </a:avLst>
          </a:prstGeom>
          <a:solidFill>
            <a:srgbClr val="14595B"/>
          </a:solidFill>
          <a:ln w="12700">
            <a:solidFill>
              <a:srgbClr val="14595B"/>
            </a:solidFill>
            <a:prstDash val="solid"/>
          </a:ln>
        </p:spPr>
      </p:sp>
      <p:sp>
        <p:nvSpPr>
          <p:cNvPr id="18" name="Text 16"/>
          <p:cNvSpPr txBox="1"/>
          <p:nvPr/>
        </p:nvSpPr>
        <p:spPr>
          <a:xfrm>
            <a:off x="2427732" y="5120640"/>
            <a:ext cx="161391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2026 · Maisdeckel 25 %</a:t>
            </a:r>
            <a:endParaRPr lang="en-US" sz="950" dirty="0"/>
          </a:p>
        </p:txBody>
      </p:sp>
      <p:sp>
        <p:nvSpPr>
          <p:cNvPr id="19" name="Shape 17"/>
          <p:cNvSpPr/>
          <p:nvPr/>
        </p:nvSpPr>
        <p:spPr>
          <a:xfrm>
            <a:off x="4251960" y="5120640"/>
            <a:ext cx="1760220" cy="502920"/>
          </a:xfrm>
          <a:prstGeom prst="roundRect">
            <a:avLst>
              <a:gd name="adj" fmla="val 18182"/>
            </a:avLst>
          </a:prstGeom>
          <a:solidFill>
            <a:srgbClr val="14595B"/>
          </a:solidFill>
          <a:ln w="12700">
            <a:solidFill>
              <a:srgbClr val="14595B"/>
            </a:solidFill>
            <a:prstDash val="solid"/>
          </a:ln>
        </p:spPr>
      </p:sp>
      <p:sp>
        <p:nvSpPr>
          <p:cNvPr id="20" name="Text 18"/>
          <p:cNvSpPr txBox="1"/>
          <p:nvPr/>
        </p:nvSpPr>
        <p:spPr>
          <a:xfrm>
            <a:off x="4325112" y="5120640"/>
            <a:ext cx="161391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Ende 2026 · UDB für Gas</a:t>
            </a:r>
            <a:endParaRPr lang="en-US" sz="950" dirty="0"/>
          </a:p>
        </p:txBody>
      </p:sp>
      <p:sp>
        <p:nvSpPr>
          <p:cNvPr id="21" name="Shape 19"/>
          <p:cNvSpPr/>
          <p:nvPr/>
        </p:nvSpPr>
        <p:spPr>
          <a:xfrm>
            <a:off x="6149340" y="5120640"/>
            <a:ext cx="1760220" cy="502920"/>
          </a:xfrm>
          <a:prstGeom prst="roundRect">
            <a:avLst>
              <a:gd name="adj" fmla="val 18182"/>
            </a:avLst>
          </a:prstGeom>
          <a:solidFill>
            <a:srgbClr val="14595B"/>
          </a:solidFill>
          <a:ln w="12700">
            <a:solidFill>
              <a:srgbClr val="14595B"/>
            </a:solidFill>
            <a:prstDash val="solid"/>
          </a:ln>
        </p:spPr>
      </p:sp>
      <p:sp>
        <p:nvSpPr>
          <p:cNvPr id="22" name="Text 20"/>
          <p:cNvSpPr txBox="1"/>
          <p:nvPr/>
        </p:nvSpPr>
        <p:spPr>
          <a:xfrm>
            <a:off x="6222492" y="5120640"/>
            <a:ext cx="161391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2027 · Ende Doppelanrechnung</a:t>
            </a:r>
            <a:endParaRPr lang="en-US" sz="950" dirty="0"/>
          </a:p>
        </p:txBody>
      </p:sp>
      <p:sp>
        <p:nvSpPr>
          <p:cNvPr id="23" name="Shape 21"/>
          <p:cNvSpPr/>
          <p:nvPr/>
        </p:nvSpPr>
        <p:spPr>
          <a:xfrm>
            <a:off x="8046720" y="5120640"/>
            <a:ext cx="1760220" cy="502920"/>
          </a:xfrm>
          <a:prstGeom prst="roundRect">
            <a:avLst>
              <a:gd name="adj" fmla="val 18182"/>
            </a:avLst>
          </a:prstGeom>
          <a:solidFill>
            <a:srgbClr val="14595B"/>
          </a:solidFill>
          <a:ln w="12700">
            <a:solidFill>
              <a:srgbClr val="14595B"/>
            </a:solidFill>
            <a:prstDash val="solid"/>
          </a:ln>
        </p:spPr>
      </p:sp>
      <p:sp>
        <p:nvSpPr>
          <p:cNvPr id="24" name="Text 22"/>
          <p:cNvSpPr txBox="1"/>
          <p:nvPr/>
        </p:nvSpPr>
        <p:spPr>
          <a:xfrm>
            <a:off x="8119872" y="5120640"/>
            <a:ext cx="161391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1.1.2028 · Ladestrom aus Biogas</a:t>
            </a:r>
            <a:endParaRPr lang="en-US" sz="950" dirty="0"/>
          </a:p>
        </p:txBody>
      </p:sp>
      <p:sp>
        <p:nvSpPr>
          <p:cNvPr id="25" name="Shape 23"/>
          <p:cNvSpPr/>
          <p:nvPr/>
        </p:nvSpPr>
        <p:spPr>
          <a:xfrm>
            <a:off x="9944100" y="5120640"/>
            <a:ext cx="1760220" cy="502920"/>
          </a:xfrm>
          <a:prstGeom prst="roundRect">
            <a:avLst>
              <a:gd name="adj" fmla="val 18182"/>
            </a:avLst>
          </a:prstGeom>
          <a:solidFill>
            <a:srgbClr val="14595B"/>
          </a:solidFill>
          <a:ln w="12700">
            <a:solidFill>
              <a:srgbClr val="14595B"/>
            </a:solidFill>
            <a:prstDash val="solid"/>
          </a:ln>
        </p:spPr>
      </p:sp>
      <p:sp>
        <p:nvSpPr>
          <p:cNvPr id="26" name="Text 24"/>
          <p:cNvSpPr txBox="1"/>
          <p:nvPr/>
        </p:nvSpPr>
        <p:spPr>
          <a:xfrm>
            <a:off x="10017252" y="5120640"/>
            <a:ext cx="161391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31.12.2030 · Ende RED-II-Übergang</a:t>
            </a:r>
            <a:endParaRPr lang="en-US" sz="950" dirty="0"/>
          </a:p>
        </p:txBody>
      </p:sp>
      <p:sp>
        <p:nvSpPr>
          <p:cNvPr id="27" name="Text 25"/>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Quellen: European Biogas Association, UDB-Leaflet; Kommission, UDB-Seite; ISCC UDB Update; Bundestag WD EU 6-003/26; top agrar (Biomethan-Netzzugang, Biomethan als Kraftstoff, 2026); BDEW/FNR zum Biogaspaket; Fachverband Biogas, Stellungnahme 12.1.2026; dena 2024.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20</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100" b="1" spc="200" kern="0" dirty="0">
                <a:solidFill>
                  <a:srgbClr val="14595B"/>
                </a:solidFill>
                <a:latin typeface="Calibri" pitchFamily="34" charset="0"/>
                <a:ea typeface="Calibri" pitchFamily="34" charset="-122"/>
                <a:cs typeface="Calibri" pitchFamily="34" charset="-120"/>
              </a:rPr>
              <a:t>WÄRME UND GEBÄUDE</a:t>
            </a:r>
            <a:endParaRPr lang="en-US" sz="1100" dirty="0"/>
          </a:p>
        </p:txBody>
      </p:sp>
      <p:sp>
        <p:nvSpPr>
          <p:cNvPr id="5" name="Text 3"/>
          <p:cNvSpPr txBox="1"/>
          <p:nvPr/>
        </p:nvSpPr>
        <p:spPr>
          <a:xfrm>
            <a:off x="457200" y="530352"/>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Wärme, Gebäude, Fernwärme: teilweise und umstritten</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2651760"/>
                <a:gridCol w="3840480"/>
                <a:gridCol w="3291840"/>
                <a:gridCol w="146304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RED-III-Vorgabe</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Deutsches Instrument</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Befund</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r>
              <a:tr h="0">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Art. 15a: Mindest-EE-Anteil Gebäude, Richtwert 49 % (2030)</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GEG (65 %-Regel) wird durch GModG abgelöst: Verkündung 28.7.2026, Art. 1 (Heizungstausch) sofort, Art. 2 (EPBD) sechs Monate später; „Bio-Treppe“ ab 2029 mit steigendem Anteil klimafreundlicher Brennstoffe</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Gutachten: 65 %-Vorgabe darf nach Art. 15a Abs. 3 nur verringert, nicht abgeschafft werden; LTO: europarechtlich zweifelhaft</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100" b="1" dirty="0">
                          <a:solidFill>
                            <a:srgbClr val="8A5A0B"/>
                          </a:solidFill>
                          <a:latin typeface="Calibri" pitchFamily="34" charset="0"/>
                          <a:ea typeface="Calibri" pitchFamily="34" charset="-122"/>
                          <a:cs typeface="Calibri" pitchFamily="34" charset="-120"/>
                        </a:rPr>
                        <a:t>teilweise</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FCEFD6"/>
                    </a:solidFill>
                  </a:tcPr>
                </a:tc>
              </a:tr>
              <a:tr h="0">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Art. 23: +1,1 %-Punkte p. a. Wärme und Kälte 2026 bis 2030</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Kein eigenes Umsetzungsgesetz; Mix aus WPG, GEG/GModG, BEW-Förderung</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Indikativer Sockel; Berichtspflicht über NECP; Verfehlungsrisiko bei gebremstem Heizungstausch</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100" b="1" dirty="0">
                          <a:solidFill>
                            <a:srgbClr val="8A5A0B"/>
                          </a:solidFill>
                          <a:latin typeface="Calibri" pitchFamily="34" charset="0"/>
                          <a:ea typeface="Calibri" pitchFamily="34" charset="-122"/>
                          <a:cs typeface="Calibri" pitchFamily="34" charset="-120"/>
                        </a:rPr>
                        <a:t>teilweise</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FCEFD6"/>
                    </a:solidFill>
                  </a:tcPr>
                </a:tc>
              </a:tr>
              <a:tr h="0">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Art. 24: Fernwärme +2,2 %-Punkte p. a.; Drittzugang für EE und Abwärme bei Netzen &gt; 25 MWth; Verbraucherinformation</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WPG (1.1.2024): Wärmenetze 30 % EE/Abwärme bis 2030, 80 % bis 2040; Wärmepläne bis 30.6.2026 (Großstädte) und 30.6.2028</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Anteilspfad abgedeckt; Drittzugang nicht ausdrücklich geregelt; EPBD-Verfahren der Kommission gegen alle 27 Mitgliedstaaten seit 15.7.2026</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100" b="1" dirty="0">
                          <a:solidFill>
                            <a:srgbClr val="8A5A0B"/>
                          </a:solidFill>
                          <a:latin typeface="Calibri" pitchFamily="34" charset="0"/>
                          <a:ea typeface="Calibri" pitchFamily="34" charset="-122"/>
                          <a:cs typeface="Calibri" pitchFamily="34" charset="-120"/>
                        </a:rPr>
                        <a:t>teilweise</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FCEFD6"/>
                    </a:solidFill>
                  </a:tcPr>
                </a:tc>
              </a:tr>
            </a:tbl>
          </a:graphicData>
        </a:graphic>
      </p:graphicFrame>
      <p:sp>
        <p:nvSpPr>
          <p:cNvPr id="7" name="Shape 4"/>
          <p:cNvSpPr/>
          <p:nvPr/>
        </p:nvSpPr>
        <p:spPr>
          <a:xfrm>
            <a:off x="457200" y="4572000"/>
            <a:ext cx="11247120" cy="1325880"/>
          </a:xfrm>
          <a:prstGeom prst="roundRect">
            <a:avLst>
              <a:gd name="adj" fmla="val 8276"/>
            </a:avLst>
          </a:prstGeom>
          <a:solidFill>
            <a:srgbClr val="FCEFD6"/>
          </a:solidFill>
          <a:ln w="12700">
            <a:solidFill>
              <a:srgbClr val="FCEFD6"/>
            </a:solidFill>
            <a:prstDash val="solid"/>
          </a:ln>
        </p:spPr>
      </p:sp>
      <p:sp>
        <p:nvSpPr>
          <p:cNvPr id="8" name="Text 5"/>
          <p:cNvSpPr txBox="1"/>
          <p:nvPr/>
        </p:nvSpPr>
        <p:spPr>
          <a:xfrm>
            <a:off x="640080" y="4681728"/>
            <a:ext cx="1088136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Einordnung</a:t>
            </a:r>
            <a:endParaRPr lang="en-US" sz="1500" dirty="0"/>
          </a:p>
        </p:txBody>
      </p:sp>
      <p:sp>
        <p:nvSpPr>
          <p:cNvPr id="9" name="Text 6"/>
          <p:cNvSpPr txBox="1"/>
          <p:nvPr/>
        </p:nvSpPr>
        <p:spPr>
          <a:xfrm>
            <a:off x="640080" y="5074920"/>
            <a:ext cx="10881360" cy="731520"/>
          </a:xfrm>
          <a:prstGeom prst="rect">
            <a:avLst/>
          </a:prstGeom>
          <a:noFill/>
          <a:ln/>
        </p:spPr>
        <p:txBody>
          <a:bodyPr wrap="square" lIns="0" tIns="0" rIns="0" bIns="0" rtlCol="0" anchor="t"/>
          <a:lstStyle/>
          <a:p>
            <a:pPr indent="0" marL="0">
              <a:spcAft>
                <a:spcPts val="400"/>
              </a:spcAft>
              <a:buNone/>
            </a:pPr>
            <a:r>
              <a:rPr lang="en-US" sz="1050" dirty="0">
                <a:solidFill>
                  <a:srgbClr val="1F2A2C"/>
                </a:solidFill>
                <a:latin typeface="Calibri" pitchFamily="34" charset="0"/>
                <a:ea typeface="Calibri" pitchFamily="34" charset="-122"/>
                <a:cs typeface="Calibri" pitchFamily="34" charset="-120"/>
              </a:rPr>
              <a:t>Deutschland hat für Art. 23 und 24 keine gesonderte RED-III-Umsetzung notifiziert; die Vorgaben werden über Bestandsrecht (WPG, GEG) und Förderung erfüllt. Der Rückbau der 65 %-Regel durch das GModG schafft ein neues Konfliktfeld mit Art. 15a RED III und mit der EPBD 2024.</a:t>
            </a:r>
            <a:endParaRPr lang="en-US" sz="1050" dirty="0"/>
          </a:p>
        </p:txBody>
      </p:sp>
      <p:sp>
        <p:nvSpPr>
          <p:cNvPr id="10" name="Text 7"/>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Quellen: GÖRG 17.7.2026 (GModG); LTO, „Neues Heizungsgesetz: Europarechtlich zweifelhaft“; BWP-Rechtsgutachten zum GEG; BMWE Gesetzentwurf 13.5.2026; BT-Drs. 21/6278; AGFW (Art. 24); UBA, Drittzugang bei Wärmenetzen; BFW Newsroom (EPBD-Verfahren 15.7.2026).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21</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100" b="1" spc="200" kern="0" dirty="0">
                <a:solidFill>
                  <a:srgbClr val="14595B"/>
                </a:solidFill>
                <a:latin typeface="Calibri" pitchFamily="34" charset="0"/>
                <a:ea typeface="Calibri" pitchFamily="34" charset="-122"/>
                <a:cs typeface="Calibri" pitchFamily="34" charset="-120"/>
              </a:rPr>
              <a:t>DURCHSETZUNG</a:t>
            </a:r>
            <a:endParaRPr lang="en-US" sz="1100" dirty="0"/>
          </a:p>
        </p:txBody>
      </p:sp>
      <p:sp>
        <p:nvSpPr>
          <p:cNvPr id="5" name="Text 3"/>
          <p:cNvSpPr txBox="1"/>
          <p:nvPr/>
        </p:nvSpPr>
        <p:spPr>
          <a:xfrm>
            <a:off x="457200" y="530352"/>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Vertragsverletzungsverfahren: zwei Stränge gegen Deutschland</a:t>
            </a:r>
            <a:endParaRPr lang="en-US" sz="2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1463040"/>
                <a:gridCol w="4572000"/>
                <a:gridCol w="2377440"/>
                <a:gridCol w="283464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Datum</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Schritt der Kommission</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Betroffene</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Bezug Deutschland</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r>
              <a:tr h="0">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26.9.2024</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Mahnschreiben: Genehmigungsvorschriften (Frist 1.7.2024) nicht umgesetzt</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26 Mitgliedstaaten</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Deutschland adressiert</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12.2.2025</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Mit Gründen versehene Stellungnahme (Genehmigung)</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BG, ES, FR, IT, CY, NL, SK, SE</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nicht betroffen</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18.6.2025</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Mit Gründen versehene Stellungnahme (Genehmigung, Frist 1.7.2024)</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Deutschland und acht weitere</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Deutschland adressiert; Antwort: Gesetz vom 12.8.2025</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24.7.2025</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Mahnschreiben: vollständige Umsetzung der RED III (Frist 21.5.2025) nicht mitgeteilt</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26 Mitgliedstaaten (alle außer DK)</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Deutschland adressiert; offen: Industrie, Solar, Biomasse</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8.10.2025</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Mit Gründen versehene Stellungnahmen (Genehmigung)</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MT, SK</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nicht betroffen</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2026 (Jan, März, Apr, Juni)</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Infringement-Pakete Energie: keine neue RED-III-Stufe gegen Deutschland öffentlich dokumentiert</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diverse</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Strang Gesamtumsetzung weiter anhängig</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15.7.2026</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Verfahren zur EPBD 2024 (nicht RED III)</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alle 27</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100" dirty="0">
                          <a:solidFill>
                            <a:srgbClr val="1F2A2C"/>
                          </a:solidFill>
                          <a:latin typeface="Calibri" pitchFamily="34" charset="0"/>
                          <a:ea typeface="Calibri" pitchFamily="34" charset="-122"/>
                          <a:cs typeface="Calibri" pitchFamily="34" charset="-120"/>
                        </a:rPr>
                        <a:t>Deutschland adressiert</a:t>
                      </a:r>
                      <a:endParaRPr lang="en-US" sz="110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bl>
          </a:graphicData>
        </a:graphic>
      </p:graphicFrame>
      <p:sp>
        <p:nvSpPr>
          <p:cNvPr id="7" name="Shape 4"/>
          <p:cNvSpPr/>
          <p:nvPr/>
        </p:nvSpPr>
        <p:spPr>
          <a:xfrm>
            <a:off x="457200" y="4800600"/>
            <a:ext cx="11247120" cy="1097280"/>
          </a:xfrm>
          <a:prstGeom prst="roundRect">
            <a:avLst>
              <a:gd name="adj" fmla="val 10000"/>
            </a:avLst>
          </a:prstGeom>
          <a:solidFill>
            <a:srgbClr val="E4EFEF"/>
          </a:solidFill>
          <a:ln w="12700">
            <a:solidFill>
              <a:srgbClr val="E4EFEF"/>
            </a:solidFill>
            <a:prstDash val="solid"/>
          </a:ln>
        </p:spPr>
      </p:sp>
      <p:sp>
        <p:nvSpPr>
          <p:cNvPr id="8" name="Text 5"/>
          <p:cNvSpPr txBox="1"/>
          <p:nvPr/>
        </p:nvSpPr>
        <p:spPr>
          <a:xfrm>
            <a:off x="640080" y="4910328"/>
            <a:ext cx="1088136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Nächste Stufen</a:t>
            </a:r>
            <a:endParaRPr lang="en-US" sz="1500" dirty="0"/>
          </a:p>
        </p:txBody>
      </p:sp>
      <p:sp>
        <p:nvSpPr>
          <p:cNvPr id="9" name="Text 6"/>
          <p:cNvSpPr txBox="1"/>
          <p:nvPr/>
        </p:nvSpPr>
        <p:spPr>
          <a:xfrm>
            <a:off x="640080" y="5303520"/>
            <a:ext cx="10881360" cy="502920"/>
          </a:xfrm>
          <a:prstGeom prst="rect">
            <a:avLst/>
          </a:prstGeom>
          <a:noFill/>
          <a:ln/>
        </p:spPr>
        <p:txBody>
          <a:bodyPr wrap="square" lIns="0" tIns="0" rIns="0" bIns="0" rtlCol="0" anchor="t"/>
          <a:lstStyle/>
          <a:p>
            <a:pPr indent="0" marL="0">
              <a:spcAft>
                <a:spcPts val="400"/>
              </a:spcAft>
              <a:buNone/>
            </a:pPr>
            <a:r>
              <a:rPr lang="en-US" sz="1050" dirty="0">
                <a:solidFill>
                  <a:srgbClr val="1F2A2C"/>
                </a:solidFill>
                <a:latin typeface="Calibri" pitchFamily="34" charset="0"/>
                <a:ea typeface="Calibri" pitchFamily="34" charset="-122"/>
                <a:cs typeface="Calibri" pitchFamily="34" charset="-120"/>
              </a:rPr>
              <a:t>Strang 1 (Genehmigung) dürfte durch Gesetz BGBl. 2025 I Nr. 189 erledigt sein; eine förmliche Einstellung ist nicht veröffentlicht. Strang 2 (Gesamtumsetzung) kann mit begründeter Stellungnahme und Klage nach Art. 258, 260 Abs. 3 AEUV (Zwangsgeld bei Nichtmitteilung) fortgesetzt werden.</a:t>
            </a:r>
            <a:endParaRPr lang="en-US" sz="1050" dirty="0"/>
          </a:p>
        </p:txBody>
      </p:sp>
      <p:sp>
        <p:nvSpPr>
          <p:cNvPr id="10" name="Text 7"/>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Quellen: Kommission, Infringement-Pakete Energie 26.9.2024, 12.2.2025, 7.5.2025, 24.7.2025, 8.10.2025, 4.6.2026; EU-Vertretung in Deutschland, PM 26.9.2024, 18.6.2025, 30.1.2026, 11.3.2026, 4.6.2026, 8.7.2026; pv magazine 27.9.2024; SNEC H2; BFW Newsroom.</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22</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100" b="1" spc="200" kern="0" dirty="0">
                <a:solidFill>
                  <a:srgbClr val="14595B"/>
                </a:solidFill>
                <a:latin typeface="Calibri" pitchFamily="34" charset="0"/>
                <a:ea typeface="Calibri" pitchFamily="34" charset="-122"/>
                <a:cs typeface="Calibri" pitchFamily="34" charset="-120"/>
              </a:rPr>
              <a:t>VERGLEICH</a:t>
            </a:r>
            <a:endParaRPr lang="en-US" sz="1100" dirty="0"/>
          </a:p>
        </p:txBody>
      </p:sp>
      <p:sp>
        <p:nvSpPr>
          <p:cNvPr id="5" name="Text 3"/>
          <p:cNvSpPr txBox="1"/>
          <p:nvPr/>
        </p:nvSpPr>
        <p:spPr>
          <a:xfrm>
            <a:off x="457200" y="530352"/>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EU-Vergleich: Deutschland im Mittelfeld</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1280160"/>
                <a:gridCol w="2834640"/>
                <a:gridCol w="2468880"/>
                <a:gridCol w="2743200"/>
                <a:gridCol w="192024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Land</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Beschleunigungsgebiete / Genehmigung</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Verkehr (RFNBO 2030)</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Industriequote Art. 22a</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Verfahren</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r>
              <a:tr h="0">
                <a:tc>
                  <a:txBody>
                    <a:bodyPr/>
                    <a:lstStyle/>
                    <a:p>
                      <a:pPr indent="0" marL="0">
                        <a:buNone/>
                      </a:pPr>
                      <a:r>
                        <a:rPr lang="en-US" sz="1050" b="1" dirty="0">
                          <a:solidFill>
                            <a:srgbClr val="1F2A2C"/>
                          </a:solidFill>
                          <a:latin typeface="Calibri" pitchFamily="34" charset="0"/>
                          <a:ea typeface="Calibri" pitchFamily="34" charset="-122"/>
                          <a:cs typeface="Calibri" pitchFamily="34" charset="-120"/>
                        </a:rPr>
                        <a:t>Deutschland</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Wind an Land und See, Netze (2025); Solar offen</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1,5 % (2030), 3 % (2032), 10 % (2040); in Kraft 7.6.2026</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nicht umgesetzt</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Mahnschreiben 7/2025 (Gesamtumsetzung) anhängig</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050" b="1" dirty="0">
                          <a:solidFill>
                            <a:srgbClr val="1F2A2C"/>
                          </a:solidFill>
                          <a:latin typeface="Calibri" pitchFamily="34" charset="0"/>
                          <a:ea typeface="Calibri" pitchFamily="34" charset="-122"/>
                          <a:cs typeface="Calibri" pitchFamily="34" charset="-120"/>
                        </a:rPr>
                        <a:t>Niederlande</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Begründete Stellungnahme 2/2025; Umsetzung im Energiewet-Rahmen</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Gesetz März 2026: 1,8 % (2030), Verlängerung bis 2040 beantragt</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Gesetzentwurf im Parlament: Jahresverpflichtung für industrielle H2-Verbraucher, Ausnahme ohne Netzanschluss, unter 42 %</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Mahnschreiben 7/2025</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050" b="1" dirty="0">
                          <a:solidFill>
                            <a:srgbClr val="1F2A2C"/>
                          </a:solidFill>
                          <a:latin typeface="Calibri" pitchFamily="34" charset="0"/>
                          <a:ea typeface="Calibri" pitchFamily="34" charset="-122"/>
                          <a:cs typeface="Calibri" pitchFamily="34" charset="-120"/>
                        </a:rPr>
                        <a:t>Frankreich</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Begründete Stellungnahme 2/2025; Zonen nach Loi APER 2023</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1,5 % (2030), erfüllbar auch mit „low carbon“-H2 ab 2026; hohe Sanktionen</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in Konsultation; kein Gesetz bekannt</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Mahnschreiben 7/2025</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050" b="1" dirty="0">
                          <a:solidFill>
                            <a:srgbClr val="1F2A2C"/>
                          </a:solidFill>
                          <a:latin typeface="Calibri" pitchFamily="34" charset="0"/>
                          <a:ea typeface="Calibri" pitchFamily="34" charset="-122"/>
                          <a:cs typeface="Calibri" pitchFamily="34" charset="-120"/>
                        </a:rPr>
                        <a:t>Spanien</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RDL 7/2026 vom 20.3.2026: Zonas de Aceleración Renovable, 12 Monate Genehmigungsfrist; RD-Entwurf zu Kriterien 2026</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RD-Entwurf „fomento de combustibles renovables“ (7/2025)</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RD-Entwurf mit 42 % / 60 % Ziel; Exportüberschuss erwartet</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Begründete Stellungnahme 2/2025; Mahnschreiben 7/2025</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r h="0">
                <a:tc>
                  <a:txBody>
                    <a:bodyPr/>
                    <a:lstStyle/>
                    <a:p>
                      <a:pPr indent="0" marL="0">
                        <a:buNone/>
                      </a:pPr>
                      <a:r>
                        <a:rPr lang="en-US" sz="1050" b="1" dirty="0">
                          <a:solidFill>
                            <a:srgbClr val="1F2A2C"/>
                          </a:solidFill>
                          <a:latin typeface="Calibri" pitchFamily="34" charset="0"/>
                          <a:ea typeface="Calibri" pitchFamily="34" charset="-122"/>
                          <a:cs typeface="Calibri" pitchFamily="34" charset="-120"/>
                        </a:rPr>
                        <a:t>Dänemark</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umgesetzt (frühzeitig)</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0,9 % (unter EU-Minimum 1 %)</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keine Quote; Förderansatz, von Kommission nicht beanstandet</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50" dirty="0">
                          <a:solidFill>
                            <a:srgbClr val="1F2A2C"/>
                          </a:solidFill>
                          <a:latin typeface="Calibri" pitchFamily="34" charset="0"/>
                          <a:ea typeface="Calibri" pitchFamily="34" charset="-122"/>
                          <a:cs typeface="Calibri" pitchFamily="34" charset="-120"/>
                        </a:rPr>
                        <a:t>einziger Staat ohne Mahnschreiben 7/2025</a:t>
                      </a:r>
                      <a:endParaRPr lang="en-US" sz="1050" dirty="0">
                        <a:latin typeface="Calibri" charset="0"/>
                        <a:ea typeface="Calibri" charset="0"/>
                        <a:cs typeface="Calibri" charset="0"/>
                      </a:endParaRPr>
                    </a:p>
                  </a:txBody>
                  <a:tcPr marL="54864" marR="54864" marT="54864" marB="54864"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r>
            </a:tbl>
          </a:graphicData>
        </a:graphic>
      </p:graphicFrame>
      <p:sp>
        <p:nvSpPr>
          <p:cNvPr id="7" name="Shape 4"/>
          <p:cNvSpPr/>
          <p:nvPr/>
        </p:nvSpPr>
        <p:spPr>
          <a:xfrm>
            <a:off x="457200" y="4617720"/>
            <a:ext cx="11247120" cy="1280160"/>
          </a:xfrm>
          <a:prstGeom prst="roundRect">
            <a:avLst>
              <a:gd name="adj" fmla="val 8571"/>
            </a:avLst>
          </a:prstGeom>
          <a:solidFill>
            <a:srgbClr val="E4EFEF"/>
          </a:solidFill>
          <a:ln w="12700">
            <a:solidFill>
              <a:srgbClr val="E4EFEF"/>
            </a:solidFill>
            <a:prstDash val="solid"/>
          </a:ln>
        </p:spPr>
      </p:sp>
      <p:sp>
        <p:nvSpPr>
          <p:cNvPr id="8" name="Text 5"/>
          <p:cNvSpPr txBox="1"/>
          <p:nvPr/>
        </p:nvSpPr>
        <p:spPr>
          <a:xfrm>
            <a:off x="640080" y="4727448"/>
            <a:ext cx="1088136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Gesamtbild</a:t>
            </a:r>
            <a:endParaRPr lang="en-US" sz="1500" dirty="0"/>
          </a:p>
        </p:txBody>
      </p:sp>
      <p:sp>
        <p:nvSpPr>
          <p:cNvPr id="9" name="Text 6"/>
          <p:cNvSpPr txBox="1"/>
          <p:nvPr/>
        </p:nvSpPr>
        <p:spPr>
          <a:xfrm>
            <a:off x="640080" y="5120640"/>
            <a:ext cx="10881360" cy="685800"/>
          </a:xfrm>
          <a:prstGeom prst="rect">
            <a:avLst/>
          </a:prstGeom>
          <a:noFill/>
          <a:ln/>
        </p:spPr>
        <p:txBody>
          <a:bodyPr wrap="square" lIns="0" tIns="0" rIns="0" bIns="0" rtlCol="0" anchor="t"/>
          <a:lstStyle/>
          <a:p>
            <a:pPr indent="0" marL="0">
              <a:spcAft>
                <a:spcPts val="400"/>
              </a:spcAft>
              <a:buNone/>
            </a:pPr>
            <a:r>
              <a:rPr lang="en-US" sz="1050" dirty="0">
                <a:solidFill>
                  <a:srgbClr val="1F2A2C"/>
                </a:solidFill>
                <a:latin typeface="Calibri" pitchFamily="34" charset="0"/>
                <a:ea typeface="Calibri" pitchFamily="34" charset="-122"/>
                <a:cs typeface="Calibri" pitchFamily="34" charset="-120"/>
              </a:rPr>
              <a:t>Nach BloombergNEF hatten im Frühjahr 2026 nur 12 von 27 Mitgliedstaaten RFNBO-Quoten legislativ verankert; Wood Mackenzie sieht nur ES, SE, PT und DK mit heimischem Erzeugungsüberschuss für die Industriequote. Dänemark und die Niederlande sind bei Verkehr und Genehmigung am weitesten.</a:t>
            </a:r>
            <a:endParaRPr lang="en-US" sz="1050" dirty="0"/>
          </a:p>
        </p:txBody>
      </p:sp>
      <p:sp>
        <p:nvSpPr>
          <p:cNvPr id="10" name="Text 7"/>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Quellen: EBB, Overview of Member States’ transposition of RED III (2026); NedZero; Lexology / Hydrogen Central (NL-Industriequote); Clean Hydrogen Observatory (FR); MITECO (RDL 7/2026, RD-Entwürfe); Westwood Hydrogen Compass 8/2025 (DK); Hydrogen Council; Wood Mackenzie 2026.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23</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100" b="1" spc="200" kern="0" dirty="0">
                <a:solidFill>
                  <a:srgbClr val="14595B"/>
                </a:solidFill>
                <a:latin typeface="Calibri" pitchFamily="34" charset="0"/>
                <a:ea typeface="Calibri" pitchFamily="34" charset="-122"/>
                <a:cs typeface="Calibri" pitchFamily="34" charset="-120"/>
              </a:rPr>
              <a:t>AUSBLICK</a:t>
            </a:r>
            <a:endParaRPr lang="en-US" sz="1100" dirty="0"/>
          </a:p>
        </p:txBody>
      </p:sp>
      <p:sp>
        <p:nvSpPr>
          <p:cNvPr id="5" name="Text 3"/>
          <p:cNvSpPr txBox="1"/>
          <p:nvPr/>
        </p:nvSpPr>
        <p:spPr>
          <a:xfrm>
            <a:off x="457200" y="530352"/>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Was bis wann voraussichtlich kommt: Zeitplan 2026 bis 2035</a:t>
            </a:r>
            <a:endParaRPr lang="en-US" sz="2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3840480"/>
                <a:gridCol w="3108960"/>
                <a:gridCol w="2651760"/>
                <a:gridCol w="16459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Meilenstein</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Zieltermin</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Grundlage</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Verlässlichkeit</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14595B"/>
                    </a:solidFill>
                  </a:tcPr>
                </a:tc>
              </a:tr>
              <a:tr h="0">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Wärmepläne kleinerer Kommunen</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30.6.2028 (Großstädte: 30.6.2026 erledigt)</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 4 WPG</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000" b="1" dirty="0">
                          <a:solidFill>
                            <a:srgbClr val="1E5F3A"/>
                          </a:solidFill>
                          <a:latin typeface="Calibri" pitchFamily="34" charset="0"/>
                          <a:ea typeface="Calibri" pitchFamily="34" charset="-122"/>
                          <a:cs typeface="Calibri" pitchFamily="34" charset="-120"/>
                        </a:rPr>
                        <a:t>gesetzlich fixiert</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DFF0E6"/>
                    </a:solidFill>
                  </a:tcPr>
                </a:tc>
              </a:tr>
              <a:tr h="0">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Inkrafttreten Neufassung BioSt-NachV / Biokraft-NachV</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2. Halbjahr 2026 oder 1.1.2027</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Verordnungsverfahren Bundesregierung</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000" b="1" dirty="0">
                          <a:solidFill>
                            <a:srgbClr val="2C4C7A"/>
                          </a:solidFill>
                          <a:latin typeface="Calibri" pitchFamily="34" charset="0"/>
                          <a:ea typeface="Calibri" pitchFamily="34" charset="-122"/>
                          <a:cs typeface="Calibri" pitchFamily="34" charset="-120"/>
                        </a:rPr>
                        <a:t>in Verfahren</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E3ECF7"/>
                    </a:solidFill>
                  </a:tcPr>
                </a:tc>
              </a:tr>
              <a:tr h="0">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Unionsdatenbank für gasförmige Brennstoffe verbindlich</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Ende 2026</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Kommission, Art. 31a</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000" b="1" dirty="0">
                          <a:solidFill>
                            <a:srgbClr val="2C4C7A"/>
                          </a:solidFill>
                          <a:latin typeface="Calibri" pitchFamily="34" charset="0"/>
                          <a:ea typeface="Calibri" pitchFamily="34" charset="-122"/>
                          <a:cs typeface="Calibri" pitchFamily="34" charset="-120"/>
                        </a:rPr>
                        <a:t>in Verfahren</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E3ECF7"/>
                    </a:solidFill>
                  </a:tcPr>
                </a:tc>
              </a:tr>
              <a:tr h="0">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GModG Art. 2 (EPBD-Teil) in Kraft</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Ende Januar 2027</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BGBl. 28.7.2026 + 6 Monate</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000" b="1" dirty="0">
                          <a:solidFill>
                            <a:srgbClr val="1E5F3A"/>
                          </a:solidFill>
                          <a:latin typeface="Calibri" pitchFamily="34" charset="0"/>
                          <a:ea typeface="Calibri" pitchFamily="34" charset="-122"/>
                          <a:cs typeface="Calibri" pitchFamily="34" charset="-120"/>
                        </a:rPr>
                        <a:t>gesetzlich fixiert</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DFF0E6"/>
                    </a:solidFill>
                  </a:tcPr>
                </a:tc>
              </a:tr>
              <a:tr h="0">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Revidierter RFNBO-Rechtsakt (Additionalität, Korrelation)</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2026, angekündigt für Mitte 2026</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AccelerateEU, DG ENER</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000" b="1" dirty="0">
                          <a:solidFill>
                            <a:srgbClr val="2C4C7A"/>
                          </a:solidFill>
                          <a:latin typeface="Calibri" pitchFamily="34" charset="0"/>
                          <a:ea typeface="Calibri" pitchFamily="34" charset="-122"/>
                          <a:cs typeface="Calibri" pitchFamily="34" charset="-120"/>
                        </a:rPr>
                        <a:t>in Verfahren</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E3ECF7"/>
                    </a:solidFill>
                  </a:tcPr>
                </a:tc>
              </a:tr>
              <a:tr h="0">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RED-IV-Vorschlag der Kommission</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Q3 2026</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Arbeitsprogramm Kommission</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000" b="1" dirty="0">
                          <a:solidFill>
                            <a:srgbClr val="8E2B25"/>
                          </a:solidFill>
                          <a:latin typeface="Calibri" pitchFamily="34" charset="0"/>
                          <a:ea typeface="Calibri" pitchFamily="34" charset="-122"/>
                          <a:cs typeface="Calibri" pitchFamily="34" charset="-120"/>
                        </a:rPr>
                        <a:t>offen</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F8E0DD"/>
                    </a:solidFill>
                  </a:tcPr>
                </a:tc>
              </a:tr>
              <a:tr h="0">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Ende Doppelanrechnung THG-Quote</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Verpflichtungsjahr 2027</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 37a BImSchG n. F.</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000" b="1" dirty="0">
                          <a:solidFill>
                            <a:srgbClr val="1E5F3A"/>
                          </a:solidFill>
                          <a:latin typeface="Calibri" pitchFamily="34" charset="0"/>
                          <a:ea typeface="Calibri" pitchFamily="34" charset="-122"/>
                          <a:cs typeface="Calibri" pitchFamily="34" charset="-120"/>
                        </a:rPr>
                        <a:t>gesetzlich fixiert</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DFF0E6"/>
                    </a:solidFill>
                  </a:tcPr>
                </a:tc>
              </a:tr>
              <a:tr h="0">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Ladestrom aus Biogas anrechenbar</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1.1.2028</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THG-Quote-Gesetz 2026</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000" b="1" dirty="0">
                          <a:solidFill>
                            <a:srgbClr val="1E5F3A"/>
                          </a:solidFill>
                          <a:latin typeface="Calibri" pitchFamily="34" charset="0"/>
                          <a:ea typeface="Calibri" pitchFamily="34" charset="-122"/>
                          <a:cs typeface="Calibri" pitchFamily="34" charset="-120"/>
                        </a:rPr>
                        <a:t>gesetzlich fixiert</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DFF0E6"/>
                    </a:solidFill>
                  </a:tcPr>
                </a:tc>
              </a:tr>
              <a:tr h="0">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RFNBO-Mindestquote Verkehr 1,5 %</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2030 (3 % 2032, 10 % 2040)</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 37a BImSchG n. F.</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000" b="1" dirty="0">
                          <a:solidFill>
                            <a:srgbClr val="1E5F3A"/>
                          </a:solidFill>
                          <a:latin typeface="Calibri" pitchFamily="34" charset="0"/>
                          <a:ea typeface="Calibri" pitchFamily="34" charset="-122"/>
                          <a:cs typeface="Calibri" pitchFamily="34" charset="-120"/>
                        </a:rPr>
                        <a:t>gesetzlich fixiert</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DFF0E6"/>
                    </a:solidFill>
                  </a:tcPr>
                </a:tc>
              </a:tr>
              <a:tr h="0">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Stündliche Korrelation RFNBO</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1.1.2030 (Verschiebung auf 2032/33 erwartet)</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DelVO 2023/1184</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000" b="1" dirty="0">
                          <a:solidFill>
                            <a:srgbClr val="2C4C7A"/>
                          </a:solidFill>
                          <a:latin typeface="Calibri" pitchFamily="34" charset="0"/>
                          <a:ea typeface="Calibri" pitchFamily="34" charset="-122"/>
                          <a:cs typeface="Calibri" pitchFamily="34" charset="-120"/>
                        </a:rPr>
                        <a:t>in Verfahren</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E3ECF7"/>
                    </a:solidFill>
                  </a:tcPr>
                </a:tc>
              </a:tr>
              <a:tr h="0">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80 % THG-Minderung Bestandsanlagen Biomasse</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ab 1.1.2031 (Übergang bis 31.12.2030)</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Art. 29 Abs. 15 RED III</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000" b="1" dirty="0">
                          <a:solidFill>
                            <a:srgbClr val="1E5F3A"/>
                          </a:solidFill>
                          <a:latin typeface="Calibri" pitchFamily="34" charset="0"/>
                          <a:ea typeface="Calibri" pitchFamily="34" charset="-122"/>
                          <a:cs typeface="Calibri" pitchFamily="34" charset="-120"/>
                        </a:rPr>
                        <a:t>gesetzlich fixiert</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DFF0E6"/>
                    </a:solidFill>
                  </a:tcPr>
                </a:tc>
              </a:tr>
              <a:tr h="0">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Industriequote Art. 22a: nationales Instrument</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kein Termin; Ziel 42 % 2030, 60 % 2035</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kein Entwurf</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000" b="1" dirty="0">
                          <a:solidFill>
                            <a:srgbClr val="8E2B25"/>
                          </a:solidFill>
                          <a:latin typeface="Calibri" pitchFamily="34" charset="0"/>
                          <a:ea typeface="Calibri" pitchFamily="34" charset="-122"/>
                          <a:cs typeface="Calibri" pitchFamily="34" charset="-120"/>
                        </a:rPr>
                        <a:t>Verzug / offen</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F8E0DD"/>
                    </a:solidFill>
                  </a:tcPr>
                </a:tc>
              </a:tr>
              <a:tr h="0">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Beschleunigungsgebiete Solar</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kein Termin; Frist 21.2.2026 verfehlt</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indent="0" marL="0">
                        <a:buNone/>
                      </a:pPr>
                      <a:r>
                        <a:rPr lang="en-US" sz="1000" dirty="0">
                          <a:solidFill>
                            <a:srgbClr val="1F2A2C"/>
                          </a:solidFill>
                          <a:latin typeface="Calibri" pitchFamily="34" charset="0"/>
                          <a:ea typeface="Calibri" pitchFamily="34" charset="-122"/>
                          <a:cs typeface="Calibri" pitchFamily="34" charset="-120"/>
                        </a:rPr>
                        <a:t>kein Entwurf</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tcPr>
                </a:tc>
                <a:tc>
                  <a:txBody>
                    <a:bodyPr/>
                    <a:lstStyle/>
                    <a:p>
                      <a:pPr algn="ctr" indent="0" marL="0">
                        <a:buNone/>
                      </a:pPr>
                      <a:r>
                        <a:rPr lang="en-US" sz="1000" b="1" dirty="0">
                          <a:solidFill>
                            <a:srgbClr val="8E2B25"/>
                          </a:solidFill>
                          <a:latin typeface="Calibri" pitchFamily="34" charset="0"/>
                          <a:ea typeface="Calibri" pitchFamily="34" charset="-122"/>
                          <a:cs typeface="Calibri" pitchFamily="34" charset="-120"/>
                        </a:rPr>
                        <a:t>Verzug / offen</a:t>
                      </a:r>
                      <a:endParaRPr lang="en-US" sz="1000" dirty="0">
                        <a:latin typeface="Calibri" charset="0"/>
                        <a:ea typeface="Calibri" charset="0"/>
                        <a:cs typeface="Calibri" charset="0"/>
                      </a:endParaRPr>
                    </a:p>
                  </a:txBody>
                  <a:tcPr marL="41148" marR="41148" marT="41148" marB="41148" anchor="ctr">
                    <a:lnL w="6350" cap="flat" cmpd="sng" algn="ctr">
                      <a:solidFill>
                        <a:srgbClr val="BFD9D9"/>
                      </a:solidFill>
                      <a:prstDash val="solid"/>
                      <a:round/>
                      <a:headEnd type="none" w="med" len="med"/>
                      <a:tailEnd type="none" w="med" len="med"/>
                    </a:lnL>
                    <a:lnR w="6350" cap="flat" cmpd="sng" algn="ctr">
                      <a:solidFill>
                        <a:srgbClr val="BFD9D9"/>
                      </a:solidFill>
                      <a:prstDash val="solid"/>
                      <a:round/>
                      <a:headEnd type="none" w="med" len="med"/>
                      <a:tailEnd type="none" w="med" len="med"/>
                    </a:lnR>
                    <a:lnT w="6350" cap="flat" cmpd="sng" algn="ctr">
                      <a:solidFill>
                        <a:srgbClr val="BFD9D9"/>
                      </a:solidFill>
                      <a:prstDash val="solid"/>
                      <a:round/>
                      <a:headEnd type="none" w="med" len="med"/>
                      <a:tailEnd type="none" w="med" len="med"/>
                    </a:lnT>
                    <a:lnB w="6350" cap="flat" cmpd="sng" algn="ctr">
                      <a:solidFill>
                        <a:srgbClr val="BFD9D9"/>
                      </a:solidFill>
                      <a:prstDash val="solid"/>
                      <a:round/>
                      <a:headEnd type="none" w="med" len="med"/>
                      <a:tailEnd type="none" w="med" len="med"/>
                    </a:lnB>
                    <a:solidFill>
                      <a:srgbClr val="F8E0DD"/>
                    </a:solidFill>
                  </a:tcPr>
                </a:tc>
              </a:tr>
            </a:tbl>
          </a:graphicData>
        </a:graphic>
      </p:graphicFrame>
      <p:sp>
        <p:nvSpPr>
          <p:cNvPr id="7" name="Text 4"/>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Quellen: siehe vorherige Folien; Termine ohne Rechtsakt sind Erwartungswerte auf Basis der zitierten Ankündigungen.</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24</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100" b="1" spc="200" kern="0" dirty="0">
                <a:solidFill>
                  <a:srgbClr val="14595B"/>
                </a:solidFill>
                <a:latin typeface="Calibri" pitchFamily="34" charset="0"/>
                <a:ea typeface="Calibri" pitchFamily="34" charset="-122"/>
                <a:cs typeface="Calibri" pitchFamily="34" charset="-120"/>
              </a:rPr>
              <a:t>FAZIT</a:t>
            </a:r>
            <a:endParaRPr lang="en-US" sz="1100" dirty="0"/>
          </a:p>
        </p:txBody>
      </p:sp>
      <p:sp>
        <p:nvSpPr>
          <p:cNvPr id="5" name="Text 3"/>
          <p:cNvSpPr txBox="1"/>
          <p:nvPr/>
        </p:nvSpPr>
        <p:spPr>
          <a:xfrm>
            <a:off x="457200" y="530352"/>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Fazit: Angebot geregelt, Nachfrageseite Wasserstoff fehlt</a:t>
            </a:r>
            <a:endParaRPr lang="en-US" sz="2600" dirty="0"/>
          </a:p>
        </p:txBody>
      </p:sp>
      <p:sp>
        <p:nvSpPr>
          <p:cNvPr id="6" name="Shape 4"/>
          <p:cNvSpPr/>
          <p:nvPr/>
        </p:nvSpPr>
        <p:spPr>
          <a:xfrm>
            <a:off x="457200" y="1280160"/>
            <a:ext cx="3657600" cy="3474720"/>
          </a:xfrm>
          <a:prstGeom prst="roundRect">
            <a:avLst>
              <a:gd name="adj" fmla="val 3158"/>
            </a:avLst>
          </a:prstGeom>
          <a:solidFill>
            <a:srgbClr val="DFF0E6"/>
          </a:solidFill>
          <a:ln w="12700">
            <a:solidFill>
              <a:srgbClr val="DFF0E6"/>
            </a:solidFill>
            <a:prstDash val="solid"/>
          </a:ln>
        </p:spPr>
      </p:sp>
      <p:sp>
        <p:nvSpPr>
          <p:cNvPr id="7" name="Text 5"/>
          <p:cNvSpPr txBox="1"/>
          <p:nvPr/>
        </p:nvSpPr>
        <p:spPr>
          <a:xfrm>
            <a:off x="640080" y="1389888"/>
            <a:ext cx="329184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Umgesetzt</a:t>
            </a:r>
            <a:endParaRPr lang="en-US" sz="1500" dirty="0"/>
          </a:p>
        </p:txBody>
      </p:sp>
      <p:sp>
        <p:nvSpPr>
          <p:cNvPr id="8" name="Text 6"/>
          <p:cNvSpPr txBox="1"/>
          <p:nvPr/>
        </p:nvSpPr>
        <p:spPr>
          <a:xfrm>
            <a:off x="640080" y="1783080"/>
            <a:ext cx="3291840" cy="28803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Genehmigungsteil vollständig für Wind an Land, See und Netze (2025)</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Verkehrsziele mit ambitionierterem Pfad als EU-Minimum (65 % THG 2040, RFNBO 10 % 2040)</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WasserstoffBG schafft Vorrang und Fristen für die Erzeugungs- und Transportseite</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Biomassepaket stabilisiert Bestand, EEG-Rahmen beihilferechtlich gesichert</a:t>
            </a:r>
            <a:endParaRPr lang="en-US" sz="1100" dirty="0"/>
          </a:p>
        </p:txBody>
      </p:sp>
      <p:sp>
        <p:nvSpPr>
          <p:cNvPr id="9" name="Shape 7"/>
          <p:cNvSpPr/>
          <p:nvPr/>
        </p:nvSpPr>
        <p:spPr>
          <a:xfrm>
            <a:off x="4251960" y="1280160"/>
            <a:ext cx="3657600" cy="3474720"/>
          </a:xfrm>
          <a:prstGeom prst="roundRect">
            <a:avLst>
              <a:gd name="adj" fmla="val 3158"/>
            </a:avLst>
          </a:prstGeom>
          <a:solidFill>
            <a:srgbClr val="F8E0DD"/>
          </a:solidFill>
          <a:ln w="12700">
            <a:solidFill>
              <a:srgbClr val="F8E0DD"/>
            </a:solidFill>
            <a:prstDash val="solid"/>
          </a:ln>
        </p:spPr>
      </p:sp>
      <p:sp>
        <p:nvSpPr>
          <p:cNvPr id="10" name="Text 8"/>
          <p:cNvSpPr txBox="1"/>
          <p:nvPr/>
        </p:nvSpPr>
        <p:spPr>
          <a:xfrm>
            <a:off x="4434840" y="1389888"/>
            <a:ext cx="329184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Verzug</a:t>
            </a:r>
            <a:endParaRPr lang="en-US" sz="1500" dirty="0"/>
          </a:p>
        </p:txBody>
      </p:sp>
      <p:sp>
        <p:nvSpPr>
          <p:cNvPr id="11" name="Text 9"/>
          <p:cNvSpPr txBox="1"/>
          <p:nvPr/>
        </p:nvSpPr>
        <p:spPr>
          <a:xfrm>
            <a:off x="4434840" y="1783080"/>
            <a:ext cx="3291840" cy="28803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Industriequote Art. 22a: kein Instrument, keine Zeitplanung, Marktunsicherheit für Elektrolyse-Investitionen</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Solar-Beschleunigungsgebiete: Frist verfehlt, kein Entwurf</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Biomasse-Nachhaltigkeitsverordnungen: über ein Jahr nach Frist noch nicht in Kraft</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Vertragsverletzungsstrang Gesamtumsetzung bleibt anhängig</a:t>
            </a:r>
            <a:endParaRPr lang="en-US" sz="1100" dirty="0"/>
          </a:p>
        </p:txBody>
      </p:sp>
      <p:sp>
        <p:nvSpPr>
          <p:cNvPr id="12" name="Shape 10"/>
          <p:cNvSpPr/>
          <p:nvPr/>
        </p:nvSpPr>
        <p:spPr>
          <a:xfrm>
            <a:off x="8046720" y="1280160"/>
            <a:ext cx="3657600" cy="3474720"/>
          </a:xfrm>
          <a:prstGeom prst="roundRect">
            <a:avLst>
              <a:gd name="adj" fmla="val 3158"/>
            </a:avLst>
          </a:prstGeom>
          <a:solidFill>
            <a:srgbClr val="FCEFD6"/>
          </a:solidFill>
          <a:ln w="12700">
            <a:solidFill>
              <a:srgbClr val="FCEFD6"/>
            </a:solidFill>
            <a:prstDash val="solid"/>
          </a:ln>
        </p:spPr>
      </p:sp>
      <p:sp>
        <p:nvSpPr>
          <p:cNvPr id="13" name="Text 11"/>
          <p:cNvSpPr txBox="1"/>
          <p:nvPr/>
        </p:nvSpPr>
        <p:spPr>
          <a:xfrm>
            <a:off x="8229600" y="1389888"/>
            <a:ext cx="329184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Risiken und Stellschrauben</a:t>
            </a:r>
            <a:endParaRPr lang="en-US" sz="1500" dirty="0"/>
          </a:p>
        </p:txBody>
      </p:sp>
      <p:sp>
        <p:nvSpPr>
          <p:cNvPr id="14" name="Text 12"/>
          <p:cNvSpPr txBox="1"/>
          <p:nvPr/>
        </p:nvSpPr>
        <p:spPr>
          <a:xfrm>
            <a:off x="8229600" y="1783080"/>
            <a:ext cx="3291840" cy="28803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GModG-Rückbau der 65 %-Regel kollidiert potenziell mit Art. 15a RED III und EPBD</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EE-Anteil 23,8 % (2025) vs. 41 % (2030): Zielverfehlung des NECP-Beitrags wahrscheinlich; damit entfällt auch die 20 %-Reduktionsoption für die Industriequote</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RFNBO-Revision der EU kann Kostenlast senken, verschiebt aber Investitionen</a:t>
            </a:r>
            <a:endParaRPr lang="en-US" sz="1100" dirty="0"/>
          </a:p>
          <a:p>
            <a:pPr marL="152400" indent="-152400">
              <a:spcAft>
                <a:spcPts val="400"/>
              </a:spcAft>
              <a:buSzPct val="100000"/>
              <a:buChar char="•"/>
            </a:pPr>
            <a:r>
              <a:rPr lang="en-US" sz="1100" dirty="0">
                <a:solidFill>
                  <a:srgbClr val="1F2A2C"/>
                </a:solidFill>
                <a:latin typeface="Calibri" pitchFamily="34" charset="0"/>
                <a:ea typeface="Calibri" pitchFamily="34" charset="-122"/>
                <a:cs typeface="Calibri" pitchFamily="34" charset="-120"/>
              </a:rPr>
              <a:t>Nächste RED-Novellen (Genehmigung, RED IV) verlangen Anpassungen ab 2027</a:t>
            </a:r>
            <a:endParaRPr lang="en-US" sz="1100" dirty="0"/>
          </a:p>
        </p:txBody>
      </p:sp>
      <p:sp>
        <p:nvSpPr>
          <p:cNvPr id="15" name="Shape 13"/>
          <p:cNvSpPr/>
          <p:nvPr/>
        </p:nvSpPr>
        <p:spPr>
          <a:xfrm>
            <a:off x="457200" y="4937760"/>
            <a:ext cx="11247120" cy="960120"/>
          </a:xfrm>
          <a:prstGeom prst="roundRect">
            <a:avLst>
              <a:gd name="adj" fmla="val 11429"/>
            </a:avLst>
          </a:prstGeom>
          <a:solidFill>
            <a:srgbClr val="0B2E33"/>
          </a:solidFill>
          <a:ln w="12700">
            <a:solidFill>
              <a:srgbClr val="0B2E33"/>
            </a:solidFill>
            <a:prstDash val="solid"/>
          </a:ln>
        </p:spPr>
      </p:sp>
      <p:sp>
        <p:nvSpPr>
          <p:cNvPr id="16" name="Text 14"/>
          <p:cNvSpPr txBox="1"/>
          <p:nvPr/>
        </p:nvSpPr>
        <p:spPr>
          <a:xfrm>
            <a:off x="685800" y="4983480"/>
            <a:ext cx="10789920" cy="8686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Kernbotschaft: Deutschland hat die Angebotsseite der RED III geregelt (Genehmigung, Netze, Verkehrsquote, H2-Infrastruktur). Die Nachfrageseite für grünen Wasserstoff (Art. 22a), die Solar-Beschleunigungsgebiete und die Biomasse-Nachhaltigkeitsregeln fehlen mehr als ein Jahr nach Ablauf der Umsetzungsfrist.</a:t>
            </a:r>
            <a:endParaRPr lang="en-US" sz="1200" dirty="0"/>
          </a:p>
        </p:txBody>
      </p:sp>
      <p:sp>
        <p:nvSpPr>
          <p:cNvPr id="17" name="Text 15"/>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Eigene Bewertung auf Basis der auf den vorherigen Folien zitierten Quellen.</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25</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100" b="1" spc="200" kern="0" dirty="0">
                <a:solidFill>
                  <a:srgbClr val="14595B"/>
                </a:solidFill>
                <a:latin typeface="Calibri" pitchFamily="34" charset="0"/>
                <a:ea typeface="Calibri" pitchFamily="34" charset="-122"/>
                <a:cs typeface="Calibri" pitchFamily="34" charset="-120"/>
              </a:rPr>
              <a:t>ANHANG</a:t>
            </a:r>
            <a:endParaRPr lang="en-US" sz="1100" dirty="0"/>
          </a:p>
        </p:txBody>
      </p:sp>
      <p:sp>
        <p:nvSpPr>
          <p:cNvPr id="5" name="Text 3"/>
          <p:cNvSpPr txBox="1"/>
          <p:nvPr/>
        </p:nvSpPr>
        <p:spPr>
          <a:xfrm>
            <a:off x="457200" y="530352"/>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Quellen I: Rechtsakte und amtliche Dokumente</a:t>
            </a:r>
            <a:endParaRPr lang="en-US" sz="2600" dirty="0"/>
          </a:p>
        </p:txBody>
      </p:sp>
      <p:sp>
        <p:nvSpPr>
          <p:cNvPr id="6" name="Text 4"/>
          <p:cNvSpPr txBox="1"/>
          <p:nvPr/>
        </p:nvSpPr>
        <p:spPr>
          <a:xfrm>
            <a:off x="457200" y="1280160"/>
            <a:ext cx="5486400" cy="466344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Richtlinie (EU) 2023/2413 vom 18.10.2023 (RED III), ABl. L 2023/2413</a:t>
            </a:r>
            <a:endParaRPr lang="en-US" sz="1100" dirty="0"/>
          </a:p>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Delegierte Verordnungen (EU) 2023/1184 und 2023/1185, ABl. L 157 vom 20.6.2023</a:t>
            </a:r>
            <a:endParaRPr lang="en-US" sz="1100" dirty="0"/>
          </a:p>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Gesetz zur Umsetzung von Vorgaben der RL (EU) 2023/2413 für Zulassungs- und Planverfahren, BGBl. 2025 I Nr. 189 (15.8.2025)</a:t>
            </a:r>
            <a:endParaRPr lang="en-US" sz="1100" dirty="0"/>
          </a:p>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Gesetz zur Umsetzung der EU-Erneuerbaren-Richtlinie in den Bereichen Windenergie auf See und Stromnetze, BGBl. 2025 I Nr. 351 (22.12.2025)</a:t>
            </a:r>
            <a:endParaRPr lang="en-US" sz="1100" dirty="0"/>
          </a:p>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Wasserstoffbeschleunigungsgesetz, BGBl. 2026 I Nr. 84 (1.4.2026); gesetze-im-internet.de/wasserstoffbg</a:t>
            </a:r>
            <a:endParaRPr lang="en-US" sz="1100" dirty="0"/>
          </a:p>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Zweites Gesetz zur Weiterentwicklung der Treibhausgasminderungs-Quote, BGBl. 2026 I Nr. 163; BT-Drs. 21/4083, 21/5530</a:t>
            </a:r>
            <a:endParaRPr lang="en-US" sz="1100" dirty="0"/>
          </a:p>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Gebäudemodernisierungsgesetz, BGBl. 2026 I (28.7.2026); BMWE Gesetzentwurf 13.5.2026; BT-Drs. 21/6278</a:t>
            </a:r>
            <a:endParaRPr lang="en-US" sz="1100" dirty="0"/>
          </a:p>
        </p:txBody>
      </p:sp>
      <p:sp>
        <p:nvSpPr>
          <p:cNvPr id="7" name="Text 5"/>
          <p:cNvSpPr txBox="1"/>
          <p:nvPr/>
        </p:nvSpPr>
        <p:spPr>
          <a:xfrm>
            <a:off x="6217920" y="1280160"/>
            <a:ext cx="5486400" cy="466344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37. BImSchV (BGBl. 2024 I Nr. 83); 38. BImSchV; UBA Vollzugsseiten</a:t>
            </a:r>
            <a:endParaRPr lang="en-US" sz="1100" dirty="0"/>
          </a:p>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BMUKN, Verordnungsverfahren Neufassung BioSt-NachV und Biokraft-NachV (Gläserne Gesetze, 21. WP)</a:t>
            </a:r>
            <a:endParaRPr lang="en-US" sz="1100" dirty="0"/>
          </a:p>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EEG-Biomassepaket, BGBl. 2025 I (24.2.2025)</a:t>
            </a:r>
            <a:endParaRPr lang="en-US" sz="1100" dirty="0"/>
          </a:p>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Wärmeplanungsgesetz (WPG), BGBl. 2023 I Nr. 394</a:t>
            </a:r>
            <a:endParaRPr lang="en-US" sz="1100" dirty="0"/>
          </a:p>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Kommission, Infringement-Pakete Energie: 26.9.2024, 12.2.2025, 7.5.2025, 24.7.2025, 8.10.2025, 29.4.2026, 4.6.2026</a:t>
            </a:r>
            <a:endParaRPr lang="en-US" sz="1100" dirty="0"/>
          </a:p>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EU-Vertretung in Deutschland, Pressemitteilungen 26.9.2024, 18.6.2025, 30.1.2026, 11.3.2026, 4.6.2026, 8.7.2026</a:t>
            </a:r>
            <a:endParaRPr lang="en-US" sz="1100" dirty="0"/>
          </a:p>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Real Decreto-ley 7/2026 (Spanien); MITECO Konsultationen 2025/2026</a:t>
            </a:r>
            <a:endParaRPr lang="en-US" sz="1100" dirty="0"/>
          </a:p>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UBA / AGEE-Stat, Erneuerbare Energien in Deutschland 2025; BMWE Zeitreihen 1990 bis 2025; NECP Deutschland 2024</a:t>
            </a:r>
            <a:endParaRPr lang="en-US" sz="1100" dirty="0"/>
          </a:p>
        </p:txBody>
      </p:sp>
      <p:sp>
        <p:nvSpPr>
          <p:cNvPr id="8" name="Text 6"/>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Alle Fundstellen wurden per Web-Recherche am 8.9.2026 erhoben; Volltexte der Bundesgesetzblätter über recht.bund.de.</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46520"/>
            <a:ext cx="457200" cy="274320"/>
          </a:xfrm>
          <a:prstGeom prst="rect">
            <a:avLst/>
          </a:prstGeom>
          <a:noFill/>
          <a:ln/>
        </p:spPr>
        <p:txBody>
          <a:bodyPr wrap="square" lIns="0" tIns="0" rIns="0" bIns="0" rtlCol="0" anchor="ctr"/>
          <a:lstStyle/>
          <a:p>
            <a:pPr algn="r" indent="0" marL="0">
              <a:buNone/>
            </a:pPr>
            <a:r>
              <a:rPr lang="en-US" sz="900" dirty="0">
                <a:solidFill>
                  <a:srgbClr val="5C6B6D"/>
                </a:solidFill>
                <a:latin typeface="Calibri" pitchFamily="34" charset="0"/>
                <a:ea typeface="Calibri" pitchFamily="34" charset="-122"/>
                <a:cs typeface="Calibri" pitchFamily="34" charset="-120"/>
              </a:rPr>
              <a:t>26</a:t>
            </a:r>
            <a:endParaRPr lang="en-US" sz="900" dirty="0"/>
          </a:p>
        </p:txBody>
      </p:sp>
      <p:sp>
        <p:nvSpPr>
          <p:cNvPr id="3"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C6B6D"/>
                </a:solidFill>
                <a:latin typeface="Calibri" pitchFamily="34" charset="0"/>
                <a:ea typeface="Calibri" pitchFamily="34" charset="-122"/>
                <a:cs typeface="Calibri" pitchFamily="34" charset="-120"/>
              </a:rPr>
              <a:t>RED III · Umsetzungsstand Deutschland · September 2026</a:t>
            </a:r>
            <a:endParaRPr lang="en-US" sz="900" dirty="0"/>
          </a:p>
        </p:txBody>
      </p:sp>
      <p:sp>
        <p:nvSpPr>
          <p:cNvPr id="4" name="Text 2"/>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100" b="1" spc="200" kern="0" dirty="0">
                <a:solidFill>
                  <a:srgbClr val="14595B"/>
                </a:solidFill>
                <a:latin typeface="Calibri" pitchFamily="34" charset="0"/>
                <a:ea typeface="Calibri" pitchFamily="34" charset="-122"/>
                <a:cs typeface="Calibri" pitchFamily="34" charset="-120"/>
              </a:rPr>
              <a:t>ANHANG</a:t>
            </a:r>
            <a:endParaRPr lang="en-US" sz="1100" dirty="0"/>
          </a:p>
        </p:txBody>
      </p:sp>
      <p:sp>
        <p:nvSpPr>
          <p:cNvPr id="5" name="Text 3"/>
          <p:cNvSpPr txBox="1"/>
          <p:nvPr/>
        </p:nvSpPr>
        <p:spPr>
          <a:xfrm>
            <a:off x="457200" y="530352"/>
            <a:ext cx="11247120" cy="640080"/>
          </a:xfrm>
          <a:prstGeom prst="rect">
            <a:avLst/>
          </a:prstGeom>
          <a:noFill/>
          <a:ln/>
        </p:spPr>
        <p:txBody>
          <a:bodyPr wrap="square" lIns="0" tIns="0" rIns="0" bIns="0" rtlCol="0" anchor="ctr"/>
          <a:lstStyle/>
          <a:p>
            <a:pPr indent="0" marL="0">
              <a:buNone/>
            </a:pPr>
            <a:r>
              <a:rPr lang="en-US" sz="2600" b="1" dirty="0">
                <a:solidFill>
                  <a:srgbClr val="0B2E33"/>
                </a:solidFill>
                <a:latin typeface="Cambria" pitchFamily="34" charset="0"/>
                <a:ea typeface="Cambria" pitchFamily="34" charset="-122"/>
                <a:cs typeface="Cambria" pitchFamily="34" charset="-120"/>
              </a:rPr>
              <a:t>Quellen II: Fachpublikationen, Verbände, Kanzleien und Methodik</a:t>
            </a:r>
            <a:endParaRPr lang="en-US" sz="2600" dirty="0"/>
          </a:p>
        </p:txBody>
      </p:sp>
      <p:sp>
        <p:nvSpPr>
          <p:cNvPr id="6" name="Text 4"/>
          <p:cNvSpPr txBox="1"/>
          <p:nvPr/>
        </p:nvSpPr>
        <p:spPr>
          <a:xfrm>
            <a:off x="457200" y="1280160"/>
            <a:ext cx="5486400" cy="438912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Fachagentur Wind und Solar: Hintergrundpapier „Nationale Umsetzung der RED III“; PM 29.4.2026; PV-Freiflächenstatus Frühjahr 2026</a:t>
            </a:r>
            <a:endParaRPr lang="en-US" sz="1100" dirty="0"/>
          </a:p>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EWI Köln: „Umsetzung der RED III in der deutschen Industrie“ (15.7.2026)</a:t>
            </a:r>
            <a:endParaRPr lang="en-US" sz="1100" dirty="0"/>
          </a:p>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Nationaler Wasserstoffrat: Stellungnahme Industriequote (1.3.2024)</a:t>
            </a:r>
            <a:endParaRPr lang="en-US" sz="1100" dirty="0"/>
          </a:p>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Hydrogen Europe: RED III Industry Target Implementation Options (6/2026); Guidance Note Transport (9/2025)</a:t>
            </a:r>
            <a:endParaRPr lang="en-US" sz="1100" dirty="0"/>
          </a:p>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dena: Auswirkungen der RED III auf den Biomethanmarkt (2024); RFNBO-Zertifizierung und THG-Quote (2025)</a:t>
            </a:r>
            <a:endParaRPr lang="en-US" sz="1100" dirty="0"/>
          </a:p>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European Biogas Association: UDB-Leaflet; ISCC UDB Updates; Bundestag WD EU 6-003/26</a:t>
            </a:r>
            <a:endParaRPr lang="en-US" sz="1100" dirty="0"/>
          </a:p>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Wood Mackenzie (2026), BloombergNEF (via Hydrogen Council), Westwood Hydrogen Compass (8/2025)</a:t>
            </a:r>
            <a:endParaRPr lang="en-US" sz="1100" dirty="0"/>
          </a:p>
        </p:txBody>
      </p:sp>
      <p:sp>
        <p:nvSpPr>
          <p:cNvPr id="7" name="Text 5"/>
          <p:cNvSpPr txBox="1"/>
          <p:nvPr/>
        </p:nvSpPr>
        <p:spPr>
          <a:xfrm>
            <a:off x="6217920" y="1280160"/>
            <a:ext cx="5486400" cy="237744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Kanzleien: Noerr, KPMG Law, CMS, GÖRG, Gleiss Lutz, GvW, bbh, Osborne Clarke, Stibbe, King &amp; Spalding, Cuatrecasas</a:t>
            </a:r>
            <a:endParaRPr lang="en-US" sz="1100" dirty="0"/>
          </a:p>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Medien: Bundestag Textarchiv/hib, Bundesregierung.de, H2-news.de, pv magazine, Solarserver, top agrar, LTO, IHK-Meldungen, WTS</a:t>
            </a:r>
            <a:endParaRPr lang="en-US" sz="1100" dirty="0"/>
          </a:p>
          <a:p>
            <a:pPr marL="177800" indent="-177800">
              <a:spcAft>
                <a:spcPts val="600"/>
              </a:spcAft>
              <a:buSzPct val="100000"/>
              <a:buChar char="•"/>
            </a:pPr>
            <a:r>
              <a:rPr lang="en-US" sz="1100" dirty="0">
                <a:solidFill>
                  <a:srgbClr val="1F2A2C"/>
                </a:solidFill>
                <a:latin typeface="Calibri" pitchFamily="34" charset="0"/>
                <a:ea typeface="Calibri" pitchFamily="34" charset="-122"/>
                <a:cs typeface="Calibri" pitchFamily="34" charset="-120"/>
              </a:rPr>
              <a:t>Verbände: BWE, BDEW, DWV, VIK, WV Stahl, Fachverband Biogas, Hauptstadtbüro Bioenergie, VDB, AGFW, BWP</a:t>
            </a:r>
            <a:endParaRPr lang="en-US" sz="1100" dirty="0"/>
          </a:p>
        </p:txBody>
      </p:sp>
      <p:sp>
        <p:nvSpPr>
          <p:cNvPr id="8" name="Shape 6"/>
          <p:cNvSpPr/>
          <p:nvPr/>
        </p:nvSpPr>
        <p:spPr>
          <a:xfrm>
            <a:off x="6217920" y="3749040"/>
            <a:ext cx="5486400" cy="2148840"/>
          </a:xfrm>
          <a:prstGeom prst="roundRect">
            <a:avLst>
              <a:gd name="adj" fmla="val 5106"/>
            </a:avLst>
          </a:prstGeom>
          <a:solidFill>
            <a:srgbClr val="FCEFD6"/>
          </a:solidFill>
          <a:ln w="12700">
            <a:solidFill>
              <a:srgbClr val="FCEFD6"/>
            </a:solidFill>
            <a:prstDash val="solid"/>
          </a:ln>
        </p:spPr>
      </p:sp>
      <p:sp>
        <p:nvSpPr>
          <p:cNvPr id="9" name="Text 7"/>
          <p:cNvSpPr txBox="1"/>
          <p:nvPr/>
        </p:nvSpPr>
        <p:spPr>
          <a:xfrm>
            <a:off x="6400800" y="3858768"/>
            <a:ext cx="5120640" cy="365760"/>
          </a:xfrm>
          <a:prstGeom prst="rect">
            <a:avLst/>
          </a:prstGeom>
          <a:noFill/>
          <a:ln/>
        </p:spPr>
        <p:txBody>
          <a:bodyPr wrap="square" lIns="0" tIns="0" rIns="0" bIns="0" rtlCol="0" anchor="t"/>
          <a:lstStyle/>
          <a:p>
            <a:pPr indent="0" marL="0">
              <a:buNone/>
            </a:pPr>
            <a:r>
              <a:rPr lang="en-US" sz="1500" b="1" dirty="0">
                <a:solidFill>
                  <a:srgbClr val="0B2E33"/>
                </a:solidFill>
                <a:latin typeface="Cambria" pitchFamily="34" charset="0"/>
                <a:ea typeface="Cambria" pitchFamily="34" charset="-122"/>
                <a:cs typeface="Cambria" pitchFamily="34" charset="-120"/>
              </a:rPr>
              <a:t>Methodik und Vorbehalte</a:t>
            </a:r>
            <a:endParaRPr lang="en-US" sz="1500" dirty="0"/>
          </a:p>
        </p:txBody>
      </p:sp>
      <p:sp>
        <p:nvSpPr>
          <p:cNvPr id="10" name="Text 8"/>
          <p:cNvSpPr txBox="1"/>
          <p:nvPr/>
        </p:nvSpPr>
        <p:spPr>
          <a:xfrm>
            <a:off x="6400800" y="4251960"/>
            <a:ext cx="5120640" cy="155448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1F2A2C"/>
                </a:solidFill>
                <a:latin typeface="Calibri" pitchFamily="34" charset="0"/>
                <a:ea typeface="Calibri" pitchFamily="34" charset="-122"/>
                <a:cs typeface="Calibri" pitchFamily="34" charset="-120"/>
              </a:rPr>
              <a:t>Rechtsstand 8.9.2026; Web-Recherche mit Priorität auf amtliche Quellen</a:t>
            </a:r>
            <a:endParaRPr lang="en-US" sz="1000" dirty="0"/>
          </a:p>
          <a:p>
            <a:pPr marL="152400" indent="-152400">
              <a:spcAft>
                <a:spcPts val="400"/>
              </a:spcAft>
              <a:buSzPct val="100000"/>
              <a:buChar char="•"/>
            </a:pPr>
            <a:r>
              <a:rPr lang="en-US" sz="1000" dirty="0">
                <a:solidFill>
                  <a:srgbClr val="1F2A2C"/>
                </a:solidFill>
                <a:latin typeface="Calibri" pitchFamily="34" charset="0"/>
                <a:ea typeface="Calibri" pitchFamily="34" charset="-122"/>
                <a:cs typeface="Calibri" pitchFamily="34" charset="-120"/>
              </a:rPr>
              <a:t>Nicht abschließend verifiziert: BGBl.-Fundstelle BioSt-NachV, Annahme des revidierten RFNBO-Rechtsakts, Datum des Kommissionsvorschlags zur RED-III-Änderung, Einstellung des Genehmigungs-Verfahrens</a:t>
            </a:r>
            <a:endParaRPr lang="en-US" sz="1000" dirty="0"/>
          </a:p>
          <a:p>
            <a:pPr marL="152400" indent="-152400">
              <a:spcAft>
                <a:spcPts val="400"/>
              </a:spcAft>
              <a:buSzPct val="100000"/>
              <a:buChar char="•"/>
            </a:pPr>
            <a:r>
              <a:rPr lang="en-US" sz="1000" dirty="0">
                <a:solidFill>
                  <a:srgbClr val="1F2A2C"/>
                </a:solidFill>
                <a:latin typeface="Calibri" pitchFamily="34" charset="0"/>
                <a:ea typeface="Calibri" pitchFamily="34" charset="-122"/>
                <a:cs typeface="Calibri" pitchFamily="34" charset="-120"/>
              </a:rPr>
              <a:t>Keine Rechtsberatung; vor Verwendung in Verfahren Primärquellen prüfen</a:t>
            </a:r>
            <a:endParaRPr lang="en-US" sz="1000" dirty="0"/>
          </a:p>
        </p:txBody>
      </p:sp>
      <p:sp>
        <p:nvSpPr>
          <p:cNvPr id="11" name="Text 9"/>
          <p:cNvSpPr txBox="1"/>
          <p:nvPr/>
        </p:nvSpPr>
        <p:spPr>
          <a:xfrm>
            <a:off x="457200" y="6053328"/>
            <a:ext cx="11247120" cy="365760"/>
          </a:xfrm>
          <a:prstGeom prst="rect">
            <a:avLst/>
          </a:prstGeom>
          <a:noFill/>
          <a:ln/>
        </p:spPr>
        <p:txBody>
          <a:bodyPr wrap="square" lIns="0" tIns="0" rIns="0" bIns="0" rtlCol="0" anchor="t"/>
          <a:lstStyle/>
          <a:p>
            <a:pPr indent="0" marL="0">
              <a:buNone/>
            </a:pPr>
            <a:r>
              <a:rPr lang="en-US" sz="850" dirty="0">
                <a:solidFill>
                  <a:srgbClr val="5C6B6D"/>
                </a:solidFill>
                <a:latin typeface="Calibri" pitchFamily="34" charset="0"/>
                <a:ea typeface="Calibri" pitchFamily="34" charset="-122"/>
                <a:cs typeface="Calibri" pitchFamily="34" charset="-120"/>
              </a:rPr>
              <a:t>Zusammenstellung: automatisierte Recherche mit manueller Plausibilisierung; Angaben ohne Gewähr.</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 III in deutschem Recht – Stand September 2026</dc:title>
  <dc:subject>PptxGenJS Presentation</dc:subject>
  <dc:creator>Analyse RED III</dc:creator>
  <cp:lastModifiedBy>Analyse RED III</cp:lastModifiedBy>
  <cp:revision>1</cp:revision>
  <dcterms:created xsi:type="dcterms:W3CDTF">2026-09-08T14:27:15Z</dcterms:created>
  <dcterms:modified xsi:type="dcterms:W3CDTF">2026-09-08T14:27:15Z</dcterms:modified>
</cp:coreProperties>
</file>