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Verkehrsteil: Die RFNBO-Mindestquote wurde mit dem Zweiten Gesetz zur Weiterentwicklung der THG-Quote (Bundestag 23.4.2026, Bundesrat 8.5.2026, in Kraft 7.6.2026) umgesetzt, ein Jahr nach der EU-Frist 21.5.2025. Die Strombezugs- und THG-Kriterien gelten unmittelbar und werden über die 37. BImSchV für die Anrechnung national verbindlich.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Industriequote: Deutschland hat für Art. 22a kein Instrument. Das EWI beziffert den quotenrelevanten Wasserstoffverbrauch auf rund 17 TWh; 42 % entsprechen rund 7 TWh grünem Wasserstoff 2030. Das Wasserstoffbeschleunigungsgesetz regelt nur die Genehmigungsseite.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abschließend verifiziert: Annahme des revidierten RFNBO-Rechtsakts; ob die Kommission nach dem Mahnschreiben vom 24.7.2025 eine mit Gründen versehene Stellungnahme an Deutschland gerichtet 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III · Umsetzungsstand Deutschland · September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VERKEHR · NACHWEIS · ZERTIFIZIERUNG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III und Wasserstoff: Umsetzungsstand in Deutschland (1/3)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43891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RED-III-Norm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Vorgabe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Deutsche Umsetzung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9/2026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25 Abs. 1 lit.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Mind. 1 % RFNBO im Verkehr 2030 (Unterziel 5,5 % mit fortschrittlichen Biokraftstoffen)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 37a BImSchG n. F.: RFNBO-Mindestquote 1,5 % (2030), 3 % (2032), 10 % (2040); Pönale 120 €/GJ (§ 37c Abs. 14); Zweites THG-Quoten-Gesetz, BGBl. 2026 I Nr. 163, in Kraft 7.6.2026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umgesetzt (verspätet)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25 Abs. 1 UAbs. 4, Art. 27 Abs.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Anrechnung von RFNBO-Wasserstoff in Raffinerien sowie in Luft- und Schifffahrt; Multiplikatoren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 BImSchV (Neufassung 2024): Anrechnungsfaktor 3; § 37a BImSchG; Doppelanrechnung Biokraftstoffe endet 2026/2027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umgesetzt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27 Abs. 3, Art. 28 Abs. 5: DelVO (EU) 2023/1184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Strombezugskriterien für RFNBO: Additionalität, zeitliche (monatlich bis 2029, stündlich ab 2030) und geografische Korrelation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Unmittelbar geltendes EU-Recht; national verbindlich über 37. BImSchV; Revision durch Kommission angekündigt (AccelerateEU, Mai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umgesetzt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29a, DelVO (EU) 2023/1185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THG-Minderung mind. 70 % für RFNBO und wiederverwertete kohlenstoffhaltige Kraftstoffe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 BImSchV; Zertifizierung über anerkannte Systeme (ISCC EU, REDcert)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umgesetzt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Nachweisführung, Massenbilanz, Zertifizierung aller Wirtschaftsteilnehmer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 BImSchV: Register und elektronische Datenbank beim Umweltbundesamt; Nabisy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umgesetzt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31a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Unionsdatenbank für flüssige und gasförmige erneuerbare Kraftstoffe inkl. Wasserstoff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EU-Plattform; Start für gasförmige Brennstoffe auf Ende 2026 verschoben; Nabisy-Anbindung erforderlich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4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Verfahren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Herkunftsnachweise auch für erneuerbare Gase inkl. Wasserstoff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Herkunftsnachweisregistergesetz (2023) und Register für Gas, Wasserstoff, Wärme und Kälte beim Umweltbundesamt (Verordnung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umgesetzt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BGBl. 2026 I Nr. 163; 37. BImSchV (BGBl. 2024 I Nr. 83); DelVO (EU) 2023/1184 und 2023/1185; UBA, Vollzug 37. BImSchV; Kommission, UDB; HkNRG. Rechtsstand 8.9.2026.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III · Umsetzungsstand Deutschland · September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 · INFRASTRUKTUR · GENEHMIGUNG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III und Wasserstoff: Umsetzungsstand in Deutschland (2/3)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43891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RED-III-Norm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Vorgabe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Deutsche Umsetzung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9/2026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22a Abs.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RFNBO-Anteil am industriellen Wasserstoffverbrauch 42 % (2030), 60 % (2035); indikativ +1,6 %-Punkte EE p. 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Umsetzungsinstrument, kein Referentenentwurf; Instrumentendebatte (EWI 7/2026, NWR, Hydrogen Europe); Mahnschreiben der Kommission 24.7.2025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Verzug / offen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0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22a Abs. 1 UAbs. 2, Art. 22b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Absenkung auf 20 % möglich, wenn NECP-Beitrag erfüllt und fossiler H2-Anteil ≤ 23 % (2030) / 20 % (2035)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Voraussetzungen nicht belegt (EE-Anteil 23,8 % in 2025 gegenüber 41 %-Beitrag 2030; hoher Grauwasserstoffanteil)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Verzug / offen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0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16, 16a bis 16f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Genehmigungsfristen, überragendes öffentliches Interesse, digitale Verfahren für EE-Anlagen und Speicher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RED-III-Umsetzungsgesetz, BGBl. 2025 I Nr. 189 (Wind an Land); für Elektrolyseure, Speicher, Leitungen und Importterminals: Wasserstoffbeschleunigungsgesetz, BGBl. 2026 I Nr. 84, in Kraft 2.4.2026 (Fristen 7 Monate / 1 Jahr, § 4 überragendes öffentliches Interesse)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umgesetzt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15e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Infrastrukturgebiete für Netze und Speicher zur EE-Integration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Gesetz Wind auf See und Stromnetze, BGBl. 2025 I Nr. 351 (22.12.2025); Wasserstoffkernnetz über EnWG §§ 28r ff.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umgesetzt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20a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Systemintegration: Flexibilität, Netzdaten, Speicher und Elektrolyse als Flexibilitätsoption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 gesonderte RED-III-Umsetzung notifiziert; teilweise über EnWG- und EEG-Anpassungen 2025/2026 abgedeckt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teilweise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 Nr. 36, Art. 29a (Definition „erneuerbarer Wasserstoff“)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RFNBO-konformer Wasserstoff zählt auf die RED-III-Ziele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WasserstoffBG öffnet Verfahrensprivilegien auch für kohlenstoffarmen („blauen“) Wasserstoff; Zielanrechnung bleibt auf RFNBO beschränkt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teilweise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349240"/>
            <a:ext cx="2708910" cy="502920"/>
          </a:xfrm>
          <a:prstGeom prst="roundRect">
            <a:avLst>
              <a:gd name="adj" fmla="val 18182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" y="5349240"/>
            <a:ext cx="2562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Normen umgesetzt (1 verspätet)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03270" y="5349240"/>
            <a:ext cx="2708910" cy="502920"/>
          </a:xfrm>
          <a:prstGeom prst="roundRect">
            <a:avLst>
              <a:gd name="adj" fmla="val 18182"/>
            </a:avLst>
          </a:prstGeom>
          <a:solidFill>
            <a:srgbClr val="D48A1C"/>
          </a:solidFill>
          <a:ln w="12700">
            <a:solidFill>
              <a:srgbClr val="D48A1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76422" y="5349240"/>
            <a:ext cx="2562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Normen teilweise (Art. 20a, Definition)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49340" y="5349240"/>
            <a:ext cx="2708910" cy="502920"/>
          </a:xfrm>
          <a:prstGeom prst="roundRect">
            <a:avLst>
              <a:gd name="adj" fmla="val 18182"/>
            </a:avLst>
          </a:prstGeom>
          <a:solidFill>
            <a:srgbClr val="2C4C7A"/>
          </a:solidFill>
          <a:ln w="12700">
            <a:solidFill>
              <a:srgbClr val="2C4C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22492" y="5349240"/>
            <a:ext cx="2562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Norm im Verfahren (Art. 31a UDB)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995410" y="5349240"/>
            <a:ext cx="2708910" cy="502920"/>
          </a:xfrm>
          <a:prstGeom prst="roundRect">
            <a:avLst>
              <a:gd name="adj" fmla="val 18182"/>
            </a:avLst>
          </a:prstGeom>
          <a:solidFill>
            <a:srgbClr val="B23A33"/>
          </a:solidFill>
          <a:ln w="12700">
            <a:solidFill>
              <a:srgbClr val="B23A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68562" y="5349240"/>
            <a:ext cx="2562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22a: Verzug seit 21.5.2025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BGBl. 2025 I Nr. 189 und Nr. 351; BGBl. 2026 I Nr. 84; EWI, Umsetzung der RED III in der deutschen Industrie (15.7.2026); Kommission, Infringement-Paket 24.7.2025; UBA/AGEE-Stat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III · Umsetzungsstand Deutschland · September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FEHLT, WAS BIS WANN KOMMT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3035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III und Wasserstoff: Verzug und Zeitplan (3/3)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017520"/>
                <a:gridCol w="283464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Zieltermin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Grundlage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Verlässlichkeit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9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Nationales Instrument für Industriequote Art. 22a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Termin; EU-Frist 21.5.2025 verfehlt; Ziel 42 % 2030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Entwurf; Vertragsverletzungsstrang Gesamtumsetzung anhängig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Verzug / offen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0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Revidierte DelVO 2023/1184 (Additionalität, Stundenkorrelation)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angekündigt für Mitte 2026; Verschiebung auf 2032/33 erwartet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AccelerateEU (Mai 2026), DG ENER; Annahme zum 8.9.2026 nicht verifiziert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4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Verfahren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Unionsdatenbank für gasförmige Brennstoffe inkl. H2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Kommission, Art. 31a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4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Verfahren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RED-IV-Vorschlag und neue EU-Wasserstoffstrategie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Arbeitsprogramm Kommission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0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 Doppelanrechnung THG-Quote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Verpflichtungsjahr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 37a BImSchG n. 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gesetzlich fixiert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RFNBO-Mindestquote Verkehr 1,5 % / 3 % / 10 %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/ 2032 / 2040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 37a BImSchG n. F.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gesetzlich fixiert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Stündliche Korrelation für RFNBO-Strombezug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1.1.2030 (Verschiebung möglich)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DelVO 2023/1184 Art.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4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Verfahren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 Bestandsschutz Additionalität (Elektrolyseure bis 2027)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1.1.2038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DelVO 2023/1184 Art.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5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gesetzlich fixiert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Industriequote 60 %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22a RED III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Verzug / offen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0D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98348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0B2E33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0292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Kernbotschaft: Erzeugung, Genehmigung, Verkehrsquote und Nachweiswesen für Wasserstoff sind geregelt. Die Nachfrageseite in der Industrie (Art. 22a) ist mehr als ein Jahr nach Fristablauf ohne Rechtsakt und ohne Zeitplan.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Kommission, Infringement-Pakete 24.7.2025 und 4.6.2026; EDF Europe 1/2026; Hydrogen Europe 2/2026; European Biogas Association (UDB); BGBl. 2026 I Nr. 163. Rechtsstand 8.9.2026, keine Rechtsberatung.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III in deutschem Recht – Stand September 2026</dc:title>
  <dc:subject>PptxGenJS Presentation</dc:subject>
  <dc:creator>Analyse RED III</dc:creator>
  <cp:lastModifiedBy>Analyse RED III</cp:lastModifiedBy>
  <cp:revision>1</cp:revision>
  <dcterms:created xsi:type="dcterms:W3CDTF">2026-09-10T09:58:51Z</dcterms:created>
  <dcterms:modified xsi:type="dcterms:W3CDTF">2026-09-10T09:58:51Z</dcterms:modified>
</cp:coreProperties>
</file>